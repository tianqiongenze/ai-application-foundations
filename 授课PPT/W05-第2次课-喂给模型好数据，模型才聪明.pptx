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9" r:id="rId75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9" r:id="rId31"/>
    <p:sldId id="280" r:id="rId32"/>
    <p:sldId id="281" r:id="rId33"/>
    <p:sldId id="286" r:id="rId38"/>
    <p:sldId id="288" r:id="rId40"/>
    <p:sldId id="290" r:id="rId42"/>
    <p:sldId id="292" r:id="rId44"/>
    <p:sldId id="294" r:id="rId46"/>
    <p:sldId id="296" r:id="rId48"/>
    <p:sldId id="298" r:id="rId50"/>
    <p:sldId id="303" r:id="rId55"/>
    <p:sldId id="305" r:id="rId57"/>
    <p:sldId id="306" r:id="rId58"/>
    <p:sldId id="307" r:id="rId59"/>
    <p:sldId id="308" r:id="rId60"/>
    <p:sldId id="310" r:id="rId62"/>
    <p:sldId id="314" r:id="rId66"/>
    <p:sldId id="315" r:id="rId67"/>
    <p:sldId id="316" r:id="rId68"/>
    <p:sldId id="372" r:id="rId65"/>
    <p:sldId id="373" r:id="rId64"/>
    <p:sldId id="317" r:id="rId69"/>
    <p:sldId id="365" r:id="rId82"/>
    <p:sldId id="366" r:id="rId80"/>
    <p:sldId id="367" r:id="rId84"/>
    <p:sldId id="368" r:id="rId77"/>
    <p:sldId id="318" r:id="rId70"/>
    <p:sldId id="320" r:id="rId72"/>
    <p:sldId id="322" r:id="rId74"/>
    <p:sldId id="324" r:id="rId76"/>
    <p:sldId id="326" r:id="rId78"/>
    <p:sldId id="327" r:id="rId79"/>
    <p:sldId id="329" r:id="rId81"/>
    <p:sldId id="331" r:id="rId83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3" r:id="rId115"/>
    <p:sldId id="364" r:id="rId116"/>
    <p:sldId id="370" r:id="rId73"/>
    <p:sldId id="371" r:id="rId7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3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8" Type="http://schemas.openxmlformats.org/officeDocument/2006/relationships/slide" Target="slides/slide22.xml"/><Relationship Id="rId40" Type="http://schemas.openxmlformats.org/officeDocument/2006/relationships/slide" Target="slides/slide23.xml"/><Relationship Id="rId42" Type="http://schemas.openxmlformats.org/officeDocument/2006/relationships/slide" Target="slides/slide24.xml"/><Relationship Id="rId44" Type="http://schemas.openxmlformats.org/officeDocument/2006/relationships/slide" Target="slides/slide25.xml"/><Relationship Id="rId46" Type="http://schemas.openxmlformats.org/officeDocument/2006/relationships/slide" Target="slides/slide26.xml"/><Relationship Id="rId48" Type="http://schemas.openxmlformats.org/officeDocument/2006/relationships/slide" Target="slides/slide27.xml"/><Relationship Id="rId50" Type="http://schemas.openxmlformats.org/officeDocument/2006/relationships/slide" Target="slides/slide28.xml"/><Relationship Id="rId55" Type="http://schemas.openxmlformats.org/officeDocument/2006/relationships/slide" Target="slides/slide29.xml"/><Relationship Id="rId57" Type="http://schemas.openxmlformats.org/officeDocument/2006/relationships/slide" Target="slides/slide30.xml"/><Relationship Id="rId58" Type="http://schemas.openxmlformats.org/officeDocument/2006/relationships/slide" Target="slides/slide31.xml"/><Relationship Id="rId59" Type="http://schemas.openxmlformats.org/officeDocument/2006/relationships/slide" Target="slides/slide32.xml"/><Relationship Id="rId60" Type="http://schemas.openxmlformats.org/officeDocument/2006/relationships/slide" Target="slides/slide33.xml"/><Relationship Id="rId62" Type="http://schemas.openxmlformats.org/officeDocument/2006/relationships/slide" Target="slides/slide34.xml"/><Relationship Id="rId64" Type="http://schemas.openxmlformats.org/officeDocument/2006/relationships/slide" Target="slides/slide83.xml"/><Relationship Id="rId65" Type="http://schemas.openxmlformats.org/officeDocument/2006/relationships/slide" Target="slides/slide82.xml"/><Relationship Id="rId66" Type="http://schemas.openxmlformats.org/officeDocument/2006/relationships/slide" Target="slides/slide35.xml"/><Relationship Id="rId67" Type="http://schemas.openxmlformats.org/officeDocument/2006/relationships/slide" Target="slides/slide36.xml"/><Relationship Id="rId68" Type="http://schemas.openxmlformats.org/officeDocument/2006/relationships/slide" Target="slides/slide37.xml"/><Relationship Id="rId69" Type="http://schemas.openxmlformats.org/officeDocument/2006/relationships/slide" Target="slides/slide38.xml"/><Relationship Id="rId70" Type="http://schemas.openxmlformats.org/officeDocument/2006/relationships/slide" Target="slides/slide43.xml"/><Relationship Id="rId71" Type="http://schemas.openxmlformats.org/officeDocument/2006/relationships/slide" Target="slides/slide81.xml"/><Relationship Id="rId72" Type="http://schemas.openxmlformats.org/officeDocument/2006/relationships/slide" Target="slides/slide44.xml"/><Relationship Id="rId73" Type="http://schemas.openxmlformats.org/officeDocument/2006/relationships/slide" Target="slides/slide80.xml"/><Relationship Id="rId74" Type="http://schemas.openxmlformats.org/officeDocument/2006/relationships/slide" Target="slides/slide45.xml"/><Relationship Id="rId75" Type="http://schemas.openxmlformats.org/officeDocument/2006/relationships/slide" Target="slides/slide2.xml"/><Relationship Id="rId76" Type="http://schemas.openxmlformats.org/officeDocument/2006/relationships/slide" Target="slides/slide46.xml"/><Relationship Id="rId77" Type="http://schemas.openxmlformats.org/officeDocument/2006/relationships/slide" Target="slides/slide42.xml"/><Relationship Id="rId78" Type="http://schemas.openxmlformats.org/officeDocument/2006/relationships/slide" Target="slides/slide47.xml"/><Relationship Id="rId79" Type="http://schemas.openxmlformats.org/officeDocument/2006/relationships/slide" Target="slides/slide48.xml"/><Relationship Id="rId80" Type="http://schemas.openxmlformats.org/officeDocument/2006/relationships/slide" Target="slides/slide40.xml"/><Relationship Id="rId81" Type="http://schemas.openxmlformats.org/officeDocument/2006/relationships/slide" Target="slides/slide49.xml"/><Relationship Id="rId82" Type="http://schemas.openxmlformats.org/officeDocument/2006/relationships/slide" Target="slides/slide39.xml"/><Relationship Id="rId83" Type="http://schemas.openxmlformats.org/officeDocument/2006/relationships/slide" Target="slides/slide50.xml"/><Relationship Id="rId84" Type="http://schemas.openxmlformats.org/officeDocument/2006/relationships/slide" Target="slides/slide41.xml"/><Relationship Id="rId85" Type="http://schemas.openxmlformats.org/officeDocument/2006/relationships/slide" Target="slides/slide51.xml"/><Relationship Id="rId86" Type="http://schemas.openxmlformats.org/officeDocument/2006/relationships/slide" Target="slides/slide52.xml"/><Relationship Id="rId87" Type="http://schemas.openxmlformats.org/officeDocument/2006/relationships/slide" Target="slides/slide53.xml"/><Relationship Id="rId88" Type="http://schemas.openxmlformats.org/officeDocument/2006/relationships/slide" Target="slides/slide54.xml"/><Relationship Id="rId89" Type="http://schemas.openxmlformats.org/officeDocument/2006/relationships/slide" Target="slides/slide55.xml"/><Relationship Id="rId90" Type="http://schemas.openxmlformats.org/officeDocument/2006/relationships/slide" Target="slides/slide56.xml"/><Relationship Id="rId91" Type="http://schemas.openxmlformats.org/officeDocument/2006/relationships/slide" Target="slides/slide57.xml"/><Relationship Id="rId92" Type="http://schemas.openxmlformats.org/officeDocument/2006/relationships/slide" Target="slides/slide58.xml"/><Relationship Id="rId93" Type="http://schemas.openxmlformats.org/officeDocument/2006/relationships/slide" Target="slides/slide59.xml"/><Relationship Id="rId94" Type="http://schemas.openxmlformats.org/officeDocument/2006/relationships/slide" Target="slides/slide60.xml"/><Relationship Id="rId95" Type="http://schemas.openxmlformats.org/officeDocument/2006/relationships/slide" Target="slides/slide61.xml"/><Relationship Id="rId96" Type="http://schemas.openxmlformats.org/officeDocument/2006/relationships/slide" Target="slides/slide62.xml"/><Relationship Id="rId97" Type="http://schemas.openxmlformats.org/officeDocument/2006/relationships/slide" Target="slides/slide63.xml"/><Relationship Id="rId98" Type="http://schemas.openxmlformats.org/officeDocument/2006/relationships/slide" Target="slides/slide64.xml"/><Relationship Id="rId99" Type="http://schemas.openxmlformats.org/officeDocument/2006/relationships/slide" Target="slides/slide65.xml"/><Relationship Id="rId100" Type="http://schemas.openxmlformats.org/officeDocument/2006/relationships/slide" Target="slides/slide66.xml"/><Relationship Id="rId101" Type="http://schemas.openxmlformats.org/officeDocument/2006/relationships/slide" Target="slides/slide67.xml"/><Relationship Id="rId102" Type="http://schemas.openxmlformats.org/officeDocument/2006/relationships/slide" Target="slides/slide68.xml"/><Relationship Id="rId103" Type="http://schemas.openxmlformats.org/officeDocument/2006/relationships/slide" Target="slides/slide69.xml"/><Relationship Id="rId104" Type="http://schemas.openxmlformats.org/officeDocument/2006/relationships/slide" Target="slides/slide70.xml"/><Relationship Id="rId105" Type="http://schemas.openxmlformats.org/officeDocument/2006/relationships/slide" Target="slides/slide71.xml"/><Relationship Id="rId106" Type="http://schemas.openxmlformats.org/officeDocument/2006/relationships/slide" Target="slides/slide72.xml"/><Relationship Id="rId107" Type="http://schemas.openxmlformats.org/officeDocument/2006/relationships/slide" Target="slides/slide73.xml"/><Relationship Id="rId108" Type="http://schemas.openxmlformats.org/officeDocument/2006/relationships/slide" Target="slides/slide74.xml"/><Relationship Id="rId109" Type="http://schemas.openxmlformats.org/officeDocument/2006/relationships/slide" Target="slides/slide75.xml"/><Relationship Id="rId110" Type="http://schemas.openxmlformats.org/officeDocument/2006/relationships/slide" Target="slides/slide76.xml"/><Relationship Id="rId111" Type="http://schemas.openxmlformats.org/officeDocument/2006/relationships/slide" Target="slides/slide77.xml"/><Relationship Id="rId115" Type="http://schemas.openxmlformats.org/officeDocument/2006/relationships/slide" Target="slides/slide78.xml"/><Relationship Id="rId116" Type="http://schemas.openxmlformats.org/officeDocument/2006/relationships/slide" Target="slides/slide7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开场30秒：本次课《喂给模型好数据，模型才聪明》，80分钟＝2课时×40分钟。课前已发工单+starter+微课知识卡，资讯·计划线上完成。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你的M1.1模型上线试跑，准确率78%，但老周在周会上指出：上周轴承磨损被误报成正常两次。'误报能忍，漏报要命。'林工拍拍你：别急着换模型，先喂它更好的数据——工单M1.2：用特征工程把准确率再提5%以上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详解B1·Streamlit脚本式交互：先读定义→场景为什么用它→看代码实例→扩展给A层。C/D层掌握前三格，A层加扩展格。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详解B2·cache缓存：先读定义→场景为什么用它→看代码实例→扩展给A层。C/D层掌握前三格，A层加扩展格。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详解B3·st.metric指标卡：先读定义→场景为什么用它→看代码实例→扩展给A层。C/D层掌握前三格，A层加扩展格。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详解B4·Plotly交互图：先读定义→场景为什么用它→看代码实例→扩展给A层。C/D层掌握前三格，A层加扩展格。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详解B5·Jinja2模板：先读定义→场景为什么用它→看代码实例→扩展给A层。C/D层掌握前三格，A层加扩展格。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详解B6·四段式日报：先读定义→场景为什么用它→看代码实例→扩展给A层。C/D层掌握前三格，A层加扩展格。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现场演示《消融实验循环》：三步走——先整段跑通看结果，再逐行讲关键语句，最后现场改一个参数看输出变化（演10分钟的核心素材）。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现场演示《派生特征+网格搜索》：三步走——先整段跑通看结果，再逐行讲关键语句，最后现场改一个参数看输出变化（演10分钟的核心素材）。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工单发布话术：'设备智能运维中心发来工单M1.2《特征工程优化的故障诊断系统》，及格线是准，优秀线看A层标准'——念完发starter。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错误速查：现场演示第一条——制造「调参后测试指标反降」，带着学生按'现象→原因→解决'三步排查。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喂给模型好数据，模型才聪明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第五周 · 第2次课（2课时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83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83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83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喂给模型好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数据，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特征构建：由原始列派生新列(比值/乘积/统计量) · 归一化Min-Max：压到[0,1]，受极值影响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标准化Z-score：均值0方差1，更适合近似正态 · 树模型对单调缩放不敏感——决策矩阵要体现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派生≥2个物理含义明确的特征 · 实现消融实验并记录每步指标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83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基础知识线：特征构建：由原始列派生新列(比值/乘积/统计量)；归一化Min-Max：压到[0,1]，受极值影响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继续夯实线：标准化Z-score：均值0方差1，更适合近似正态；树模型对单调缩放不敏感——决策矩阵要体现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83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技能线：派生≥2个物理含义明确的特征；实现消融实验并记录每步指标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83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M1.2《特征工程优化的故障诊断系统》——本课工单即考核单元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83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83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83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83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目标：掌握特征构建、归一化与标准化的方法；理解不平衡数据处理策略与超参数调优的基本流程。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83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目标：能够对工业数据进行特征工程并使模型准确率提升≥5%；能够使用交叉验证评估模型稳定性并撰写性能对比分析。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83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目标：培养“数据质量决定模型上限”的工程严谨态度，形成通过实验对比验证方案优劣的科学思维。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83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Min-Max归一化与Z-score标准化各适用什么分布？树模型需要归一化吗？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83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题目：Min-Max归一化与Z-score标准化各适用什么分布？树模型需要归一化吗？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83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你的M1.1模型上线试跑，准确率78%，但老周在周会上指出：上周轴承磨损被误报成正常两次。'误报能忍，漏报要命。'林工拍拍你：别急着换模型，先喂它更好的数据——工单M1.2：用特征工程把准确率再提5%以上。</a:t>
            </a:r>
          </a:p>
        </p:txBody>
      </p:sp>
      <p:pic>
        <p:nvPicPr>
          <p:cNvPr id="9" name="Picture 8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83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任务背景：你的M1.1模型上线试跑，准确率78%，但老周在周会上指出：上周轴承磨损被误报成正常两次。'误报能忍，漏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83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掌握特征构建、归一化与标准化的方法；理解不平衡数据处理策略与超参数调优的基本流程。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能够对工业数据进行特征工程并使模型准确率提升≥5%；能够使用交叉验证评估模型稳定性并撰写性能对比分析。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培养“数据质量决定模型上限”的工程严谨态度，形成通过实验对比验证方案优劣的科学思维。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对应工单M1.2评分：功能40%+技术25%+规范20%+素养15%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83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83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知识详解：Streamlit脚本式交互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Streamlit脚本式交互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Streamlit=整页重放的幻灯片：每次点交互从头跑一遍脚本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零前端基础出交互页面——数据分析师的浏览器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st.title('产线KPI'); st.sidebar.selectbox('设备', devs)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误区：用Web框架思维写全局状态——重跑虽笨但可预测，cache治重算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83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知识详解：cache缓存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cache缓存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@st.cache_data=给函数盖'已算'章：参数不变直接取上次结果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读库/重计算函数加缓存——交互秒开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@st.cache_data def load(): return pd.read_sql(…)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误区：数据更新了还拿旧缓存——记得clear或设TTL过期时间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83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知识详解：st.metric指标卡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st.metric指标卡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st.metric=大字报KPI卡：数字+涨跌箭头一眼看板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KPI仪表盘的第一视觉元素——OEE/停机/产量三卡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c1.metric('OEE','87%',delta='+2%')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误区：delta正负好坏想当然——停机数上升是坏事，delta_color要对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83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知识详解：Plotly交互图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Plotly交互图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Plotly=会动会说话的图：悬停看数/框选放大/图例开关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仪表盘交互图表——静态图给不了的能力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px.line(df, x='ts', y='temp') → st.plotly_chart(fig)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误区：matplotlib对象塞给plotly_chart——两套体系不互通，统一用一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83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知识详解：Jinja2模板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Jinja2模板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Jinja2=填空合同：{{变量}}挖坑，render时数据填坑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HTML日报模板一次写好，数据每天自动填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Template('…{{kpi}}…').render(kpi='87%')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误区：模板里拼SQL/逻辑——模板只管样式，逻辑留在Python侧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83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知识详解：四段式日报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四段式日报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四段式=新闻倒金字塔：概览→分析→异常→附表（与02课W10同口径）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跨课统一口径：P3日报与02课PDF日报同构——一次学会两处复用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概览一段+分析一图+异常一表+附录数据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误区：两课各写一套格式——统一模板思维，资产可迁移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83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派生≥2个物理含义明确的特征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实现消融实验并记录每步指标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使用GridSearchCV调参(仅训练集)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用5折交叉验证输出均值±方差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83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83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喂给模型好数据，模型才聪明（1）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特征工程理论精讲：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特征构建：从原始工业数据到有效特征的变换方法（差值、比值、统计量）；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数据归一化（Min-Max）与标准化（Z-score）的原理与选择依据；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不平衡数据处理：故障样本不足时的过采样与欠采样策略；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模型超参数调优基础：网格搜索（GridSearchCV）与交叉验证。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83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喂给模型好数据，模型才聪明（2）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工单项目M1.2实验（80分钟）：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对M1.1故障数据进行探索性分析与特征构建；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尝试不同预处理方法并对比模型性能差异；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使用交叉验证评估模型稳定性，完成性能对比报告。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83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关键代码：消融实验循环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ABLATION = []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evaluate(tag, Xa):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m = RandomForestClassifier(random_state=42).fit(Xtr2, ytr2)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acc = (m.predict(Xte2) == yte2).mean()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ABLATION.append((tag, acc))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print(f"[消融]{tag:&lt;14} acc={acc:.3f}")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83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关键代码：派生特征+网格搜索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Xf = np.c_[Xc, Xc[:,3]/Xc[:,4]]           # 振动/电流比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sklearn.model_selection import GridSearchCV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gs = GridSearchCV(RandomForestClassifier(random_state=42),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{"n_estimators":[50,100,200]}, cv=5)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gs.fit(Xtr, ytr)      # 只用训练集!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print(gs.best_params_, gs.best_score_)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83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83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决策：预处理组合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信息损失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引入偏差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dropna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均值填充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插值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另：归一化对树模型无收益——矩阵中体现并写明理由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83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本课决策题：决策：预处理组合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83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实施任务：工单M1.2《特征工程优化的故障诊断系统》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3σ清洗噪声样本并记录条数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构建≥2个派生特征(振动/电流比等)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逐步消融：清洗→特征→调参，记录每步指标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5折交叉验证评估稳定性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准确率较基线提升≥5%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提升≥10%且F1≥0.80；≥3种优化方法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83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→ 实测达标（实测提升 15.79pp、macro-F1 0.9037、优化方法 4 种） ｜ 工单原文：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→ 实测达标（实测提升 15.79pp、macro-F1 0.9037、优化方法 4 种） ｜ 工单原文：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→ 实测达标（实测提升 15.79pp、macro-F1 0.9037、优化方法 4 种） ｜ 工单原文：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→ 实测达标（实测提升 15.79pp、macro-F1 0.9037、优化方法 4 种） ｜ 工单原文：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83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工程化项目/m12_data_quality/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src/data_quality/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83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m12_data_quality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83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能复述每步指标变化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→ 实测达标（实测提升 15.79pp、macro-F1 0.9037、优化方法 4 种）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提升≥5%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→ 实测达标（实测提升 15.79pp、macro-F1 0.9037、优化方法 4 种）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提升≥7%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→ 实测达标（实测提升 15.79pp、macro-F1 0.9037、优化方法 4 种）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提升≥10%且F1≥0.80</a:t>
                      </a:r>
                    </a:p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(A层加码: 对最优组合做5折交叉验证稳定性报告，并给出一版“生产推荐配置”)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→ 实测达标（实测提升 15.79pp、macro-F1 0.9037、优化方法 4 种）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4 条（代码不代判，答辩现场确认，逐条见下页 report.txt 截图）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档位取数：本次真跑输出的「达标档位」行（报告头未写档位行）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m12_data_quality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83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项目：01-AI应用基础/工程化项目/m12_data_quality/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10:48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工具/ppt97/evidence/m12_data_quality/（capture97.py 真跑捕获，未改写数字）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跑通消融演示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运行starter消融循环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把fillna改成dropna观察差异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记录两版结果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能复述每步指标变化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→ 实测达标（实测提升 15.79pp、macro-F1 0.9037、优化方法 4 种）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83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完成清洗+1个新特征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3σ清洗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加1个派生特征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前后准确率对比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提升≥5%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→ 实测达标（实测提升 15.79pp、macro-F1 0.9037、优化方法 4 种）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83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完成特征工程全流程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3σ清洗并记录条数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构建振动/电流比等2特征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网格搜索n_estimators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提升≥7%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→ 实测达标（实测提升 15.79pp、macro-F1 0.9037、优化方法 4 种）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83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≥3种优化组合+交叉验证报告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清洗+2特征+缩放+调参全链路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消融表逐步留痕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CV稳定性报告+生产推荐配置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提升≥10%且F1≥0.80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对最优组合做5折交叉验证稳定性报告，并给出一版“生产推荐配置”)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→ 实测达标（实测提升 15.79pp、macro-F1 0.9037、优化方法 4 种）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83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3σ清洗噪声样本并记录条数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构建≥2个派生特征(振动/电流比等)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逐步消融：清洗→特征→调参，记录每步指标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5折交叉验证评估稳定性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树模型对单调缩放不敏感——决策矩阵里要体现此判断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网格搜索只在训练集上做，否则数据泄漏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噪声样本用3σ法截断，删除数量要记录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83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调参后测试指标反降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在全量数据上调参(泄漏)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严格train上调、test只看一次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归一化后树模型无变化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树对单调缩放不敏感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正常现象，矩阵中写明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消融表数字对不上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一次改多处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每步只加一个变量并即时记录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83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D·学徒（≥60）：跑通消融演示——跟做保底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C·操作员（≥70）：完成清洗+1个新特征——基础完成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B·组长（≥80）：完成特征工程全流程——标准达成+帮带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A·师傅（≥90）：≥3种优化组合+交叉验证报告——进阶拓展+费曼讲解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83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conda环境正确（提示符显示(ai01）再运行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83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83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83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提交物与评分（工单M1.2）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学号_姓名_M1.2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83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完成工单项目M1.2《特征工程优化的故障诊断系统》：准确率较M1.1提升≥5%，优秀标准提升≥10%且F1值≥0.80；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整理特征工程改进思路说明（不少于3种优化方法）；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预习神经网络的基本概念。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83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83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清洗: 450 → 442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[消融] 基线               acc=1.000 F1=1.000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[消融] +派生特征            acc=1.000 F1=1.000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[消融] +网格搜索      acc=1.000 最优参数={'n_estimators': 50}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5折CV: 1.000 ± 0.000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提升: 0.0%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决策: 树模型对归一化不敏感(矩阵中此项打低分), 故缩放不采纳。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83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83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ONNX推理结果不一致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对齐预处理（同一scaler/归一化参数）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83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83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83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83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分类模型+阈值规则，先自动化易判样本，人只复核疑难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83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83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83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83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83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微课知识卡：派生≥2个物理含义明确的特征（5分钟视频+导学单）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83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特征构建：由原始列派生新列(比值/乘积/统计量)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归一化Min-Max：压到[0,1]，受极值影响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标准化Z-score：均值0方差1，更适合近似正态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83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83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喂给模型好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数据，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特征构建：由原始列派生新列(比值/乘积/统计量) · 归一化Min-Max：压到[0,1]，受极值影响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派生≥2个物理含义明确的特征 · 实现消融实验并记录每步指标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调参后测试指标反降 · 归一化后树模型无变化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工单M1.2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83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83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本周主题：派生≥2个物理含义明确的特征——5分钟视频+导学单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83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83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83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83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Min-Max归一化与Z-score标准化各适用什么分布？树模型需要归一化吗？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排错题：出现「调参后测试指标反降」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原因：在全量数据上调参(泄漏)；解决：严格train上调、test只看一次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特征构建：由原始列派生新列(比值/乘积/统计量)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83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知识：特征构建：由原始列派生新列(比值/乘积/；归一化Min-Max：压到[0,1]，受；标准化Z-score：均值0方差1，更适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技能：派生≥2个物理含义明确的特征；实现消融实验并记录每步指标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交付：工单M1.2《特征工程优化的故障诊断系统》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83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83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完成TinyCNN的forward前向传播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卷积核3×3、输入64×64、不加padding，输出尺寸是多少？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83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Streamlit脚本式交互｜Streamlit=整页重放的幻灯片：每次点交互从头跑一遍脚本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cache缓存｜@st.cache_data=给函数盖'已算'章：参数不变直接取上…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st.metric指标卡｜st.metric=大字报KPI卡：数字+涨跌箭头一眼看板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Plotly交互图｜Plotly=会动会说话的图：悬停看数/框选放大/图例开关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Jinja2模板｜Jinja2=填空合同：{{变量}}挖坑，render时数据填坑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四段式日报｜四段式=新闻倒金字塔：概览→分析→异常→附表（与02课W10同口径）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误区：用Web框架思维写全局状态——重跑虽笨但可预测，cache治重算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误区：数据更新了还拿旧缓存——记得clear或设TTL过期时间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误区：delta正负好坏想当然——停机数上升是坏事，delta_color要对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调参后测试指标反降 → 严格train上调、test只看一次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归一化后树模型无变化 → 正常现象，矩阵中写明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消融表数字对不上 → 每步只加一个变量并即时记录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及格线我能过吗——准确率较基线提升≥5%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优秀线我够吗——提升≥10%且F1≥0.80；≥3种优化方法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技能点我能独立做出来吗——派生≥2个物理含义明确的特征；实现消融实验并记录每步指标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83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Streamlit脚本式交互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误区：用Web框架思维写全局状态——重跑虽笨但可预测，cache治重算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Streamlit=整页重放的幻灯片：每次点交互从头跑一遍脚本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零前端基础出交互页面——数据分析师的浏览器 st.title('产线KPI'); st.sidebar.selectbox('设备', devs)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cache缓存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误区：数据更新了还拿旧缓存——记得clear或设TTL过期时间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@st.cache_data=给函数盖'已算'章：参数不变直接取上次结果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读库/重计算函数加缓存——交互秒开 @st.cache_data def load(): return pd.read_sql(…)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st.metric指标卡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误区：delta正负好坏想当然——停机数上升是坏事，delta_color要对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st.metric=大字报KPI卡：数字+涨跌箭头一眼看板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KPI仪表盘的第一视觉元素——OEE/停机/产量三卡 c1.metric('OEE','87%',delta='+2%')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