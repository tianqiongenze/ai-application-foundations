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70" r:id="rId71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9" r:id="rId31"/>
    <p:sldId id="280" r:id="rId32"/>
    <p:sldId id="281" r:id="rId33"/>
    <p:sldId id="286" r:id="rId38"/>
    <p:sldId id="288" r:id="rId40"/>
    <p:sldId id="290" r:id="rId42"/>
    <p:sldId id="292" r:id="rId44"/>
    <p:sldId id="294" r:id="rId46"/>
    <p:sldId id="296" r:id="rId48"/>
    <p:sldId id="298" r:id="rId50"/>
    <p:sldId id="303" r:id="rId55"/>
    <p:sldId id="305" r:id="rId57"/>
    <p:sldId id="306" r:id="rId58"/>
    <p:sldId id="307" r:id="rId59"/>
    <p:sldId id="308" r:id="rId60"/>
    <p:sldId id="310" r:id="rId62"/>
    <p:sldId id="314" r:id="rId66"/>
    <p:sldId id="315" r:id="rId67"/>
    <p:sldId id="316" r:id="rId68"/>
    <p:sldId id="373" r:id="rId63"/>
    <p:sldId id="374" r:id="rId61"/>
    <p:sldId id="317" r:id="rId69"/>
    <p:sldId id="365" r:id="rId80"/>
    <p:sldId id="366" r:id="rId84"/>
    <p:sldId id="367" r:id="rId77"/>
    <p:sldId id="368" r:id="rId75"/>
    <p:sldId id="369" r:id="rId73"/>
    <p:sldId id="318" r:id="rId70"/>
    <p:sldId id="320" r:id="rId72"/>
    <p:sldId id="322" r:id="rId74"/>
    <p:sldId id="324" r:id="rId76"/>
    <p:sldId id="326" r:id="rId78"/>
    <p:sldId id="327" r:id="rId79"/>
    <p:sldId id="329" r:id="rId81"/>
    <p:sldId id="330" r:id="rId82"/>
    <p:sldId id="331" r:id="rId83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3" r:id="rId115"/>
    <p:sldId id="364" r:id="rId116"/>
    <p:sldId id="371" r:id="rId65"/>
    <p:sldId id="372" r:id="rId6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3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1" Type="http://schemas.openxmlformats.org/officeDocument/2006/relationships/slide" Target="slides/slide19.xml"/><Relationship Id="rId32" Type="http://schemas.openxmlformats.org/officeDocument/2006/relationships/slide" Target="slides/slide20.xml"/><Relationship Id="rId33" Type="http://schemas.openxmlformats.org/officeDocument/2006/relationships/slide" Target="slides/slide21.xml"/><Relationship Id="rId38" Type="http://schemas.openxmlformats.org/officeDocument/2006/relationships/slide" Target="slides/slide22.xml"/><Relationship Id="rId40" Type="http://schemas.openxmlformats.org/officeDocument/2006/relationships/slide" Target="slides/slide23.xml"/><Relationship Id="rId42" Type="http://schemas.openxmlformats.org/officeDocument/2006/relationships/slide" Target="slides/slide24.xml"/><Relationship Id="rId44" Type="http://schemas.openxmlformats.org/officeDocument/2006/relationships/slide" Target="slides/slide25.xml"/><Relationship Id="rId46" Type="http://schemas.openxmlformats.org/officeDocument/2006/relationships/slide" Target="slides/slide26.xml"/><Relationship Id="rId48" Type="http://schemas.openxmlformats.org/officeDocument/2006/relationships/slide" Target="slides/slide27.xml"/><Relationship Id="rId50" Type="http://schemas.openxmlformats.org/officeDocument/2006/relationships/slide" Target="slides/slide28.xml"/><Relationship Id="rId55" Type="http://schemas.openxmlformats.org/officeDocument/2006/relationships/slide" Target="slides/slide29.xml"/><Relationship Id="rId57" Type="http://schemas.openxmlformats.org/officeDocument/2006/relationships/slide" Target="slides/slide30.xml"/><Relationship Id="rId58" Type="http://schemas.openxmlformats.org/officeDocument/2006/relationships/slide" Target="slides/slide31.xml"/><Relationship Id="rId59" Type="http://schemas.openxmlformats.org/officeDocument/2006/relationships/slide" Target="slides/slide32.xml"/><Relationship Id="rId60" Type="http://schemas.openxmlformats.org/officeDocument/2006/relationships/slide" Target="slides/slide33.xml"/><Relationship Id="rId61" Type="http://schemas.openxmlformats.org/officeDocument/2006/relationships/slide" Target="slides/slide85.xml"/><Relationship Id="rId62" Type="http://schemas.openxmlformats.org/officeDocument/2006/relationships/slide" Target="slides/slide34.xml"/><Relationship Id="rId63" Type="http://schemas.openxmlformats.org/officeDocument/2006/relationships/slide" Target="slides/slide84.xml"/><Relationship Id="rId64" Type="http://schemas.openxmlformats.org/officeDocument/2006/relationships/slide" Target="slides/slide83.xml"/><Relationship Id="rId65" Type="http://schemas.openxmlformats.org/officeDocument/2006/relationships/slide" Target="slides/slide82.xml"/><Relationship Id="rId66" Type="http://schemas.openxmlformats.org/officeDocument/2006/relationships/slide" Target="slides/slide35.xml"/><Relationship Id="rId67" Type="http://schemas.openxmlformats.org/officeDocument/2006/relationships/slide" Target="slides/slide36.xml"/><Relationship Id="rId68" Type="http://schemas.openxmlformats.org/officeDocument/2006/relationships/slide" Target="slides/slide37.xml"/><Relationship Id="rId69" Type="http://schemas.openxmlformats.org/officeDocument/2006/relationships/slide" Target="slides/slide38.xml"/><Relationship Id="rId70" Type="http://schemas.openxmlformats.org/officeDocument/2006/relationships/slide" Target="slides/slide44.xml"/><Relationship Id="rId71" Type="http://schemas.openxmlformats.org/officeDocument/2006/relationships/slide" Target="slides/slide2.xml"/><Relationship Id="rId72" Type="http://schemas.openxmlformats.org/officeDocument/2006/relationships/slide" Target="slides/slide45.xml"/><Relationship Id="rId73" Type="http://schemas.openxmlformats.org/officeDocument/2006/relationships/slide" Target="slides/slide43.xml"/><Relationship Id="rId74" Type="http://schemas.openxmlformats.org/officeDocument/2006/relationships/slide" Target="slides/slide46.xml"/><Relationship Id="rId75" Type="http://schemas.openxmlformats.org/officeDocument/2006/relationships/slide" Target="slides/slide42.xml"/><Relationship Id="rId76" Type="http://schemas.openxmlformats.org/officeDocument/2006/relationships/slide" Target="slides/slide47.xml"/><Relationship Id="rId77" Type="http://schemas.openxmlformats.org/officeDocument/2006/relationships/slide" Target="slides/slide41.xml"/><Relationship Id="rId78" Type="http://schemas.openxmlformats.org/officeDocument/2006/relationships/slide" Target="slides/slide48.xml"/><Relationship Id="rId79" Type="http://schemas.openxmlformats.org/officeDocument/2006/relationships/slide" Target="slides/slide49.xml"/><Relationship Id="rId80" Type="http://schemas.openxmlformats.org/officeDocument/2006/relationships/slide" Target="slides/slide39.xml"/><Relationship Id="rId81" Type="http://schemas.openxmlformats.org/officeDocument/2006/relationships/slide" Target="slides/slide50.xml"/><Relationship Id="rId82" Type="http://schemas.openxmlformats.org/officeDocument/2006/relationships/slide" Target="slides/slide51.xml"/><Relationship Id="rId83" Type="http://schemas.openxmlformats.org/officeDocument/2006/relationships/slide" Target="slides/slide52.xml"/><Relationship Id="rId84" Type="http://schemas.openxmlformats.org/officeDocument/2006/relationships/slide" Target="slides/slide40.xml"/><Relationship Id="rId85" Type="http://schemas.openxmlformats.org/officeDocument/2006/relationships/slide" Target="slides/slide53.xml"/><Relationship Id="rId86" Type="http://schemas.openxmlformats.org/officeDocument/2006/relationships/slide" Target="slides/slide54.xml"/><Relationship Id="rId87" Type="http://schemas.openxmlformats.org/officeDocument/2006/relationships/slide" Target="slides/slide55.xml"/><Relationship Id="rId88" Type="http://schemas.openxmlformats.org/officeDocument/2006/relationships/slide" Target="slides/slide56.xml"/><Relationship Id="rId89" Type="http://schemas.openxmlformats.org/officeDocument/2006/relationships/slide" Target="slides/slide57.xml"/><Relationship Id="rId90" Type="http://schemas.openxmlformats.org/officeDocument/2006/relationships/slide" Target="slides/slide58.xml"/><Relationship Id="rId91" Type="http://schemas.openxmlformats.org/officeDocument/2006/relationships/slide" Target="slides/slide59.xml"/><Relationship Id="rId92" Type="http://schemas.openxmlformats.org/officeDocument/2006/relationships/slide" Target="slides/slide60.xml"/><Relationship Id="rId93" Type="http://schemas.openxmlformats.org/officeDocument/2006/relationships/slide" Target="slides/slide61.xml"/><Relationship Id="rId94" Type="http://schemas.openxmlformats.org/officeDocument/2006/relationships/slide" Target="slides/slide62.xml"/><Relationship Id="rId95" Type="http://schemas.openxmlformats.org/officeDocument/2006/relationships/slide" Target="slides/slide63.xml"/><Relationship Id="rId96" Type="http://schemas.openxmlformats.org/officeDocument/2006/relationships/slide" Target="slides/slide64.xml"/><Relationship Id="rId97" Type="http://schemas.openxmlformats.org/officeDocument/2006/relationships/slide" Target="slides/slide65.xml"/><Relationship Id="rId98" Type="http://schemas.openxmlformats.org/officeDocument/2006/relationships/slide" Target="slides/slide66.xml"/><Relationship Id="rId99" Type="http://schemas.openxmlformats.org/officeDocument/2006/relationships/slide" Target="slides/slide67.xml"/><Relationship Id="rId100" Type="http://schemas.openxmlformats.org/officeDocument/2006/relationships/slide" Target="slides/slide68.xml"/><Relationship Id="rId101" Type="http://schemas.openxmlformats.org/officeDocument/2006/relationships/slide" Target="slides/slide69.xml"/><Relationship Id="rId102" Type="http://schemas.openxmlformats.org/officeDocument/2006/relationships/slide" Target="slides/slide70.xml"/><Relationship Id="rId103" Type="http://schemas.openxmlformats.org/officeDocument/2006/relationships/slide" Target="slides/slide71.xml"/><Relationship Id="rId104" Type="http://schemas.openxmlformats.org/officeDocument/2006/relationships/slide" Target="slides/slide72.xml"/><Relationship Id="rId105" Type="http://schemas.openxmlformats.org/officeDocument/2006/relationships/slide" Target="slides/slide73.xml"/><Relationship Id="rId106" Type="http://schemas.openxmlformats.org/officeDocument/2006/relationships/slide" Target="slides/slide74.xml"/><Relationship Id="rId107" Type="http://schemas.openxmlformats.org/officeDocument/2006/relationships/slide" Target="slides/slide75.xml"/><Relationship Id="rId108" Type="http://schemas.openxmlformats.org/officeDocument/2006/relationships/slide" Target="slides/slide76.xml"/><Relationship Id="rId109" Type="http://schemas.openxmlformats.org/officeDocument/2006/relationships/slide" Target="slides/slide77.xml"/><Relationship Id="rId110" Type="http://schemas.openxmlformats.org/officeDocument/2006/relationships/slide" Target="slides/slide78.xml"/><Relationship Id="rId111" Type="http://schemas.openxmlformats.org/officeDocument/2006/relationships/slide" Target="slides/slide79.xml"/><Relationship Id="rId115" Type="http://schemas.openxmlformats.org/officeDocument/2006/relationships/slide" Target="slides/slide80.xml"/><Relationship Id="rId116" Type="http://schemas.openxmlformats.org/officeDocument/2006/relationships/slide" Target="slides/slide8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开场30秒：本次课《给产品做一次视觉体检》，80分钟＝2课时×40分钟。课前已发工单+starter+微课知识卡，资讯·计划线上完成。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质检线来了新任务：一批精密结构件表面划痕/凹坑要全检，卡尺抽检跟不上节拍。林工给你一台工业相机和标定好的像素当量——工单M3.1：让OpenCV自动量出缺陷的毫米数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详解B1·建模五步流：先读定义→场景为什么用它→看代码实例→扩展给A层。C/D层掌握前三格，A层加扩展格。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详解B2·混淆矩阵业务化：先读定义→场景为什么用它→看代码实例→扩展给A层。C/D层掌握前三格，A层加扩展格。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详解B3·F1与交叉验证：先读定义→场景为什么用它→看代码实例→扩展给A层。C/D层掌握前三格，A层加扩展格。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详解B4·推理服务化：先读定义→场景为什么用它→看代码实例→扩展给A层。C/D层掌握前三格，A层加扩展格。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详解B5·warmup与p95：先读定义→场景为什么用它→看代码实例→扩展给A层。C/D层掌握前三格，A层加扩展格。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详解B6·服务健康自检：先读定义→场景为什么用它→看代码实例→扩展给A层。C/D层掌握前三格，A层加扩展格。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现场演示《测量链路核心》：三步走——先整段跑通看结果，再逐行讲关键语句，最后现场改一个参数看输出变化（演10分钟的核心素材）。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现场演示《面积换算(平方!)》：三步走——先整段跑通看结果，再逐行讲关键语句，最后现场改一个参数看输出变化（演10分钟的核心素材）。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工单发布话术：'设备智能运维中心发来工单M3.1《产品表面缺陷尺寸测量系统》，及格线是正，优秀线看A层标准'——念完发starter。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错误速查：现场演示第一条——制造「面积大10倍」，带着学生按'现象→原因→解决'三步排查。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课后任务逐条念，说明下次课的衔接关系；预告下次课前微课与导学单。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给产品做一次视觉体检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第八周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本课主用：Jupyter（实训/演示）+ PyCharm CE（编码）+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85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85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85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专业核心能力进阶课：无代码体验→轻代码实现→工业级应用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AI应用实践（中级）、工业互联网平台运维、计算机视觉工程师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前：无Python先修（零基础入门） → 本课(第4-11周，与Python基础并行) → 后：项目实战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85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给产品做一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次视觉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数字图像=二维矩阵；灰度图单通道0-255 · 色彩空间：GRAY/RGB/HSV及转换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高斯滤波：抑制噪声、平滑图像 · 阈值分割：灰度差→二值前景/背景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构建预处理链条并可视化中间图 · 阈值策略对比实验(全局/Otsu/自适应)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85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基础知识线：数字图像=二维矩阵；灰度图单通道0-255；色彩空间：GRAY/RGB/HSV及转换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继续夯实线：高斯滤波：抑制噪声、平滑图像；阈值分割：灰度差→二值前景/背景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技能线：构建预处理链条并可视化中间图；阈值策略对比实验(全局/Otsu/自适应)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85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设备智能运维中心：AI应用工程师、工业视觉开发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M3.1《产品表面缺陷尺寸测量系统》——本课工单即考核单元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1+X AI应用实践（初级=M1-M3/中级=M4）——本课工单即考点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85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85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123444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85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85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目标：理解像素、色彩空间、直方图等图像基础概念；掌握滤波、边缘检测、形态学操作的原理与用途；理解工业视觉系统的架构。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85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目标：能够使用OpenCV完成图像预处理与缺陷检测，尺寸测量误差&lt;10%（优秀&lt;5%）；能够对检测结果进行标注与可视化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85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目标：体会机器视觉替代人工目检的质量与效率价值，培养精益求精的检测标准意识。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85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像素面积350px²、当量0.1mm/px，物理面积是多少mm²？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导学单+预习自测已完成；data/数据已就位、starter可运行（--check环境OK）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85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题目：像素面积350px²、当量0.1mm/px，物理面积是多少mm²？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85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质检线来了新任务：一批精密结构件表面划痕/凹坑要全检，卡尺抽检跟不上节拍。林工给你一台工业相机和标定好的像素当量——工单M3.1：让OpenCV自动量出缺陷的毫米数。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85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任务背景：质检线来了新任务：一批精密结构件表面划痕/凹坑要全检，卡尺抽检跟不上节拍。林工给你一台工业相机和标定好的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85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理解像素、色彩空间、直方图等图像基础概念；掌握滤波、边缘检测、形态学操作的原理与用途；理解工业视觉系统的架构。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能够使用OpenCV完成图像预处理与缺陷检测，尺寸测量误差&lt;10%（优秀&lt;5%）；能够对检测结果进行标注与可视化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体会机器视觉替代人工目检的质量与效率价值，培养精益求精的检测标准意识。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对应工单M3.1评分：功能40%+技术25%+规范20%+素养15%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85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85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知识详解：建模五步流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建模五步流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五步流=产线SOP：划分→训练→交叉验证→调参→joblib保存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scikit-learn标准作业程序——顺序即纪律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joblib.dump(model, 'model_v20260926.joblib')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误区：模型文件叫model.pkl——带版本/日期命名，回滚审计全靠它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85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知识详解：混淆矩阵业务化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混淆矩阵业务化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混淆矩阵=体检报告四格：对角线判对；FN漏检与FP误报代价不对称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故障诊断评估不能只看准确率——错在哪类才关键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FN=漏报真故障(代价高) → 阈值向召回偏移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误区：把混淆矩阵翻译成钱——漏检损失vs误报停机损失，算给业务听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85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知识详解：F1与交叉验证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F1与交叉验证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F1=精确与召回的调和平均（谁短谁说了算）；CV=5防一次划分运气好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类别不平衡(故障样本少)时的诚实指标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cross_val_score(model, X, y, cv=5).mean()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误区：单次划分90%就报喜——五折均值才有说服力，方差也要报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85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知识详解：推理服务化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推理服务化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服务化=模型坐上窗口：POST JSON特征进→predict→JSON结论出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模型从notebook走向服务——部署第一步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http.server处理POST /predict，标准库即可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误区：接口没schema约定——请求字段错一个静默出错结论，契约先行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85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知识详解：warmup与p95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warmup与p95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warmup=发动机热车：首次调用加载模型慢，预热后再测；p95=95%请求的耗时线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延迟验收口径：p95不是平均值——体感由慢请求决定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先curl一次预热，再压100次取95分位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误区：只报平均延迟——1次10秒卡住用户体感，均值全被掩盖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85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知识详解：服务健康自检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服务健康自检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/health=服务的心电监护：GET返回模型版本与状态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部署后'活着吗'的标准问法——运维可见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{'status':'ok','model':'v20260926'}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误区：health与metrics混一谈——health管活没活，metrics管好不好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85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构建预处理链条并可视化中间图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阈值策略对比实验(全局/Otsu/自适应)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findContours提取并过滤轮廓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缺陷判型+尺寸换算+画框标注输出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85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评估指标公式卡（贴在显示器上）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准确率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0000" y="2470000"/>
            <a:ext cx="46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对的 / 全部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000" y="300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总体把握, 不均衡时会骗人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000" y="185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0" y="185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10000" y="191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精确率 Precision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10000" y="247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报的真 / 全部报的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10000" y="300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误报成本高时看它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000" y="376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召回率 Recall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抓到的真 / 全部真的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漏报(漏检)代价高时看它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000" y="3700000"/>
            <a:ext cx="4900000" cy="165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60000" y="3700000"/>
            <a:ext cx="4900000" cy="54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10000" y="3760000"/>
            <a:ext cx="4600000" cy="45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F1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5670F"/>
                </a:solidFill>
                <a:latin typeface="微软雅黑"/>
              </a:rPr>
              <a:t>2PR / (P+R)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10000" y="4850000"/>
            <a:ext cx="4600000" cy="4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精确与召回的调和平均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85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给产品做一次视觉体检（1）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数字图像处理理论（30分钟）：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数字图像基础：像素、分辨率、色彩空间（RGB/GRAY/HSV）；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图像处理操作：滤波去噪、边缘检测（Canny）、形态学操作（腐蚀/膨胀）；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特征提取与描述子概念（HOG、SIFT）；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工业应用：产线自动化检测的典型流程（采集→预处理→分割→测量→判定）。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85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给产品做一次视觉体检（2）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演示与工单项目M3.1实验：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演示边缘检测、轮廓提取在产线检测中的实时应用；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使用OpenCV读取产品表面图像，进行灰度化、滤波、阈值分割；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轮廓检测与缺陷尺寸（长度、面积）计算，结果标注输出。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85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关键代码：测量链路核心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blur = cv2.GaussianBlur(img, (5,5), 0)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_, bw = cv2.threshold(blur, 0, 255,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cv2.THRESH_BINARY_INV + cv2.THRESH_OTSU)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cnts, _ = cv2.findContours(bw, cv2.RETR_EXTERNAL,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                 cv2.CHAIN_APPROX_SIMPLE)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c in cnts: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if cv2.contourArea(c) &lt; 15: continue     # 滤噪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w, h = sorted(cv2.minAreaRect(c)[1])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length_mm = w * 0.1                      # 当量换算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85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关键代码：面积换算(平方!)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area_px = cv2.contourArea(c)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area_mm2 = area_px * 0.1 ** 2     # 350px²→3.5mm²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85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85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决策：阈值策略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策略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划痕检出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凹坑检出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噪点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全局阈值(100)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Otsu自动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自适应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85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本课决策题：决策：阈值策略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85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实施任务：工单M3.1《产品表面缺陷尺寸测量系统》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灰度化→滤波→阈值分割→开运算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findContours提取轮廓并过滤噪点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判型(划痕/凹坑)并按当量换算尺寸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画框+文字标注输出结果图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正确检出标注；误差&lt;10%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误差&lt;5%；多缺陷全检出且美观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85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本次真跑实测输出（逐字取自 output/report.txt）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实测达成档位: 优(A) ｜ 实测平均误差 3.95%（最大 32.83%）｜ 检出 40/40 件 ｜ 合格标注图 6/6 张 ｜ 多缺陷件检出 3/3 ｜ 误检 0 个 ｜ 剔除噪点 3 个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及格(D)    门槛 测量误差&lt;10% [达标] ｜ 功能OK ｜ 正确检出并标注缺陷；测量误差&lt;10%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良好(C)    门槛 测量误差&lt;8% [达标] ｜ 功能OK ｜ 误差达标；两种阈值策略对比记录完整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优秀(B)    门槛 测量误差&lt;5% [达标] ｜ 功能OK ｜ 误差达标；结果图清晰（框+文字+图例，机检要素计数）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优(A)     门槛 多缺陷件全检出且误检=0 [达标] ｜ 功能OK ｜ 达B且：多缺陷件全部检出；误检率=0 并分析成因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注: 本工单未逐档设代码规范率门槛 → 规范率仅作实测展示，不构成档位条件；判不到的条目一律进下方人工答辩项。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注: 「结果图清晰」的实测口径 = 框/文字/图例要素计数齐备 + 字节≥1000（工单未给字节下限，此值为『非空白图』兜底口径，不是工单数字）；整体美观度属人工答辩项。</a:t>
            </a:r>
          </a:p>
          <a:p>
            <a:r>
              <a:rPr sz="950" b="0">
                <a:solidFill>
                  <a:srgbClr val="44546A"/>
                </a:solidFill>
                <a:latin typeface="微软雅黑"/>
              </a:rPr>
              <a:t>人工答辩项 4 条，教师答辩时确认: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85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工程化项目/m31_surface_vision/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src/surface_vision/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85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实测验收 · m31_surface_vision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1371600"/>
            <a:ext cx="12188952" cy="713232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1426464"/>
            <a:ext cx="2651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7D46"/>
                </a:solidFill>
                <a:latin typeface="微软雅黑"/>
              </a:rPr>
              <a:t>实测达成档位</a:t>
            </a:r>
          </a:p>
          <a:p>
            <a:r>
              <a:rPr sz="1400" b="1">
                <a:solidFill>
                  <a:srgbClr val="2E7D46"/>
                </a:solidFill>
                <a:latin typeface="微软雅黑"/>
              </a:rPr>
              <a:t>优(A)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46120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实测平均误差 3.95%（最大 32.83%）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01184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46904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检出 40/40 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01968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47688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合格标注图 6/6 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02752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多缺陷件检出 3/3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003536" y="1426464"/>
            <a:ext cx="1627632" cy="603504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9256" y="1463040"/>
            <a:ext cx="15361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35506E"/>
                </a:solidFill>
                <a:latin typeface="微软雅黑"/>
              </a:rPr>
              <a:t>误检 0 个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57200" y="2212848"/>
          <a:ext cx="11274552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5120640"/>
                <a:gridCol w="3886200"/>
                <a:gridCol w="1078992"/>
              </a:tblGrid>
              <a:tr h="56692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档位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工单验收标准（原文）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本次实测判定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01032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及格(D)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正确检出并标注缺陷；测量误差&lt;10%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测量误差&lt;10%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良好(C)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误差达标；两种阈值策略对比记录完整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测量误差&lt;8%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优秀(B)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误差达标；结果图清晰（框+文字+图例，机检要素计数）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测量误差&lt;5% [达标] ｜ 功能OK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B2F36"/>
                          </a:solidFill>
                          <a:latin typeface="微软雅黑"/>
                        </a:rPr>
                        <a:t>优(A)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达B且：多缺陷件全部检出；误检率=0 并分析成因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2B2F36"/>
                          </a:solidFill>
                          <a:latin typeface="微软雅黑"/>
                        </a:rPr>
                        <a:t>门槛 多缺陷件全检出且误检=0 [达标] ｜ 功能OK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46"/>
                          </a:solidFill>
                          <a:latin typeface="微软雅黑"/>
                        </a:rPr>
                        <a:t>✓ 达标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29" name="Rectangle 28"/>
          <p:cNvSpPr/>
          <p:nvPr/>
        </p:nvSpPr>
        <p:spPr>
          <a:xfrm>
            <a:off x="457200" y="5138928"/>
            <a:ext cx="11274552" cy="1261872"/>
          </a:xfrm>
          <a:prstGeom prst="rect">
            <a:avLst/>
          </a:prstGeom>
          <a:solidFill>
            <a:srgbClr val="FFF7E8"/>
          </a:solidFill>
          <a:ln>
            <a:solidFill>
              <a:srgbClr val="E8C8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5212080"/>
            <a:ext cx="1092708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6B4E16"/>
                </a:solidFill>
                <a:latin typeface="微软雅黑"/>
              </a:rPr>
              <a:t>人工答辩项 4 条（代码不代判，答辩现场确认）：[01] 结果图整体美观度（配色/标注疏密）教师目检；[02] 像素当量换算能口述：面积=px×0.1²mm²、长度=px×0.1mm；[03] 误检成因分析的定性深度（答辩口头展开）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档位是算出来的：判定值由 run.py 本次真跑产生；工单未给数字的门槛在报告里标注为「兜底口径·非工单数字」。</a:t>
            </a:r>
          </a:p>
          <a:p>
            <a:r>
              <a:rPr sz="950" b="0">
                <a:solidFill>
                  <a:srgbClr val="6B4E16"/>
                </a:solidFill>
                <a:latin typeface="微软雅黑"/>
              </a:rPr>
              <a:t>实测值共 6 项，本页只列前 5 项，其余见下页 report.txt 截图。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实跑截图证据 · m31_surface_vision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① run.py 实跑终端输出（逐字捕获）</a:t>
            </a:r>
          </a:p>
        </p:txBody>
      </p:sp>
      <p:pic>
        <p:nvPicPr>
          <p:cNvPr id="18" name="Picture 17" descr="shot_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038" y="1773936"/>
            <a:ext cx="4472722" cy="1956816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② pytest 全绿终端输出（逐字捕获）</a:t>
            </a:r>
          </a:p>
        </p:txBody>
      </p:sp>
      <p:pic>
        <p:nvPicPr>
          <p:cNvPr id="21" name="Picture 20" descr="shot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4486" y="1773936"/>
            <a:ext cx="4472722" cy="195681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③ report.txt「验收档位判定（实测）」段</a:t>
            </a:r>
          </a:p>
        </p:txBody>
      </p:sp>
      <p:pic>
        <p:nvPicPr>
          <p:cNvPr id="24" name="Picture 23" descr="shot_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038" y="4169664"/>
            <a:ext cx="4472722" cy="1956816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7F9FB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④ 采集口径（可复现）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37376" y="4187952"/>
            <a:ext cx="5266944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项目：01-AI应用基础/工程化项目/m31_surface_vision/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命令：/opt/anaconda3/bin/python run.py ｜ /opt/anaconda3/bin/python -m pytest -q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采集：工具/ppt97/capture97.py（2026-10-28 10:44 真跑逐字捕获输出）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渲染：工具/ppt97/terminal_png.py（终端截图，不改写任何数字）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退出码：run=0 ｜ pytest=0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档位判定取自 output/report.txt「验收档位判定（实测）」段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截图内容逐字取自 工具/ppt97/evidence/m31_surface_vision/（capture97.py 真跑捕获，未改写数字）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产出图证据 · m31_surface_vision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annot_part_000.png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output/annotated/annot_part_000.png ｜ 9 KB ｜ run.py 本次落盘</a:t>
            </a:r>
          </a:p>
        </p:txBody>
      </p:sp>
      <p:pic>
        <p:nvPicPr>
          <p:cNvPr id="19" name="Picture 18" descr="annot_part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352" y="1993392"/>
            <a:ext cx="2292095" cy="1719072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327648" y="1481328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517904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annot_part_001.png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755648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output/annotated/annot_part_001.png ｜ 9 KB ｜ run.py 本次落盘</a:t>
            </a:r>
          </a:p>
        </p:txBody>
      </p:sp>
      <p:pic>
        <p:nvPicPr>
          <p:cNvPr id="23" name="Picture 22" descr="annot_part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799" y="1993392"/>
            <a:ext cx="2292095" cy="1719072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457200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annot_part_002.png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151376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output/annotated/annot_part_002.png ｜ 9 KB ｜ run.py 本次落盘</a:t>
            </a:r>
          </a:p>
        </p:txBody>
      </p:sp>
      <p:pic>
        <p:nvPicPr>
          <p:cNvPr id="27" name="Picture 26" descr="annot_part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4352" y="4389120"/>
            <a:ext cx="2292095" cy="1719072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327648" y="3877056"/>
            <a:ext cx="5486400" cy="230428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913632"/>
            <a:ext cx="534009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1">
                <a:solidFill>
                  <a:srgbClr val="010328"/>
                </a:solidFill>
                <a:latin typeface="微软雅黑"/>
              </a:rPr>
              <a:t>产出图 · annot_part_003.png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151376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7A8698"/>
                </a:solidFill>
                <a:latin typeface="微软雅黑"/>
              </a:rPr>
              <a:t>output/annotated/annot_part_003.png ｜ 9 KB ｜ run.py 本次落盘</a:t>
            </a:r>
          </a:p>
        </p:txBody>
      </p:sp>
      <p:pic>
        <p:nvPicPr>
          <p:cNvPr id="31" name="Picture 30" descr="annot_part_0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799" y="4389120"/>
            <a:ext cx="2292095" cy="1719072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57200" y="6254496"/>
            <a:ext cx="11247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7A8698"/>
                </a:solidFill>
                <a:latin typeface="微软雅黑"/>
              </a:rPr>
              <a:t>以上图像由 run.py 本次运行落盘到 output/，非外部素材；本次共落盘 6 张产出图，本页展示前 4 张。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阈值实验体验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改阈值100→80→120看结果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记录检出变化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口述当量换算公式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能说出参数影响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测量误差&lt;10%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85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单缺陷测量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跑通预处理链条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测一个缺陷尺寸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输出标注图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误差&lt;10%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测量误差&lt;8%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85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完整测量链路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预处理→分割→轮廓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划痕长度/凹坑面积换算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标注图输出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误差&lt;8%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测量误差&lt;5%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85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多缺陷全检出+误检归零分析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三种阈值策略各测5件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多缺陷件逐一检出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每个误检写成因分析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050" b="1">
                <a:solidFill>
                  <a:srgbClr val="010328"/>
                </a:solidFill>
                <a:latin typeface="微软雅黑"/>
              </a:rPr>
              <a:t>✔ 达标标准: 误差&lt;5%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(A层加码: 多缺陷件全检出+误检率归零，并分析每个误检的成因)</a:t>
            </a:r>
          </a:p>
          <a:p>
            <a:r>
              <a:rPr sz="1050" b="1">
                <a:solidFill>
                  <a:srgbClr val="010328"/>
                </a:solidFill>
                <a:latin typeface="微软雅黑"/>
              </a:rPr>
              <a:t>✓ 本次实测达标 ｜ 门槛 多缺陷件全检出且误检=0 [达标] ｜ 功能OK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85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灰度化→滤波→阈值分割→开运算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findContours提取轮廓并过滤噪点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判型(划痕/凹坑)并按当量换算尺寸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000" y="365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000" y="367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0000" y="359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画框+文字标注输出结果图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面积换算记得平方：350px²→3.5mm²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轮廓用RETR_EXTERNAL避免内轮廓重复计数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阈值方向：缺陷暗背景亮→用THRESH_BINARY_INV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85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面积大10倍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当量没平方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×0.1²而不是×0.1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轮廓重复计数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用了RETR_TREE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改RETR_EXTERNAL只要外轮廓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阈值后全黑/全白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方向反了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暗缺陷用BINARY_INV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85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D·学徒（≥60）：阈值实验体验——跟做保底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C·操作员（≥70）：单缺陷测量——基础完成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B·组长（≥80）：完整测量链路——标准达成+帮带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A·师傅（≥90）：多缺陷全检出+误检归零分析——进阶拓展+费曼讲解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85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步骤1：灰度化→滤波→阈值分割→开运算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步骤2：findContours提取轮廓并过滤噪点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步骤3：判型(划痕/凹坑)并按当量换算尺寸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步骤4：画框+文字标注输出结果图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85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conda环境正确（提示符显示(ai01）再运行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85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85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85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提交物与评分（工单M3.1）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学号_姓名_M3.1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85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完成工单项目M3.1《产品表面缺陷尺寸测量系统》：正确检测并标注缺陷，测量误差&lt;10%，优秀标准&lt;5%且结果美观清晰；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记录不同滤波参数下的处理效果对比；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预习YOLO物体检测的基本概念。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85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模型可解释与数据伦理：不迷信黑盒, 尊重隐私与合规红线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工程化思维：从模型精度到系统可用, 版本可管理、结果可复现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持续学习：追踪大模型前沿, 用工单沉淀个人知识资产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85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part_000.png pit 2.24mm2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85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85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torch安装失败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用--index-url cpu官方源；确认在ai48环境里装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模型指标波动大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设random_state=42；数据先shuffle再划分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ONNX推理结果不一致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对齐预处理（同一scaler/归一化参数）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85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85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85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85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质检靠老师傅目检，漏检率高且疲劳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分类模型+阈值规则，先自动化易判样本，人只复核疑难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M3.1的技能点即其最小实现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下一步：视觉检测（M3）/大模型辅助诊断（M4）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85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85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85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85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85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微课知识卡：构建预处理链条并可视化中间图（5分钟视频+导学单）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85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数字图像=二维矩阵；灰度图单通道0-255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色彩空间：GRAY/RGB/HSV及转换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高斯滤波：抑制噪声、平滑图像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85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85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给产品做一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次视觉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数字图像=二维矩阵；灰度图单通道0-255 · 色彩空间：GRAY/RGB/HSV及转换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构建预处理链条并可视化中间图 · 阈值策略对比实验(全局/Otsu/自适应)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面积大10倍 · 轮廓重复计数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工单M3.1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85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85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本周主题：构建预处理链条并可视化中间图——5分钟视频+导学单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85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85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85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85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像素面积350px²、当量0.1mm/px，物理面积是多少mm²？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排错题：出现「面积大10倍」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原因：当量没平方；解决：×0.1²而不是×0.1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数字图像=二维矩阵；灰度图单通道0-255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85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知识：数字图像=二维矩阵；灰度图单通道0-25；色彩空间：GRAY/RGB/HSV及转换；高斯滤波：抑制噪声、平滑图像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技能：构建预处理链条并可视化中间图；阈值策略对比实验(全局/Otsu/自适应)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交付：工单M3.1《产品表面缺陷尺寸测量系统》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2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85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85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加载本地权重执行CPU推理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置信度阈值调高，漏检与误检各怎么变？你的机器CPU单帧约多少ms？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本讲对应工单：《AI应用基础》分层任务工单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建模五步流｜五步流=产线SOP：划分→训练→交叉验证→调参→joblib保存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混淆矩阵业务化｜混淆矩阵=体检报告四格：对角线判对；FN漏检与FP误报代价不对称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F1与交叉验证｜F1=精确与召回的调和平均（谁短谁说了算）；CV=5防一次划分运气好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推理服务化｜服务化=模型坐上窗口：POST JSON特征进→predict→J…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warmup与p95｜warmup=发动机热车：首次调用加载模型慢，预热后再测；p95=…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服务健康自检｜/health=服务的心电监护：GET返回模型版本与状态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误区：模型文件叫model.pkl——带版本/日期命名，回滚审计全靠它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误区：把混淆矩阵翻译成钱——漏检损失vs误报停机损失，算给业务听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误区：单次划分90%就报喜——五折均值才有说服力，方差也要报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面积大10倍 → ×0.1²而不是×0.1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轮廓重复计数 → 改RETR_EXTERNAL只要外轮廓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阈值后全黑/全白 → 暗缺陷用BINARY_INV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及格线我能过吗——正确检出标注；误差&lt;10%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优秀线我够吗——误差&lt;5%；多缺陷全检出且美观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技能点我能独立做出来吗——构建预处理链条并可视化中间图；阈值策略对比实验(全局/Otsu/自适应)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建模五步流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误区：模型文件叫model.pkl——带版本/日期命名，回滚审计全靠它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五步流=产线SOP：划分→训练→交叉验证→调参→joblib保存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scikit-learn标准作业程序——顺序即纪律 joblib.dump(model, 'model_v20260926.joblib')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混淆矩阵业务化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误区：把混淆矩阵翻译成钱——漏检损失vs误报停机损失，算给业务听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混淆矩阵=体检报告四格：对角线判对；FN漏检与FP误报代价不对称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故障诊断评估不能只看准确率——错在哪类才关键 FN=漏报真故障(代价高) → 阈值向召回偏移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F1与交叉验证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误区：单次划分90%就报喜——五折均值才有说服力，方差也要报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F1=精确与召回的调和平均（谁短谁说了算）；CV=5防一次划分运气好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类别不平衡(故障样本少)时的诚实指标 cross_val_score(model, X, y, cv=5).mean()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