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69" r:id="rId70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9" r:id="rId31"/>
    <p:sldId id="280" r:id="rId32"/>
    <p:sldId id="281" r:id="rId33"/>
    <p:sldId id="286" r:id="rId38"/>
    <p:sldId id="288" r:id="rId40"/>
    <p:sldId id="290" r:id="rId42"/>
    <p:sldId id="292" r:id="rId44"/>
    <p:sldId id="294" r:id="rId46"/>
    <p:sldId id="296" r:id="rId48"/>
    <p:sldId id="302" r:id="rId54"/>
    <p:sldId id="304" r:id="rId56"/>
    <p:sldId id="305" r:id="rId57"/>
    <p:sldId id="306" r:id="rId58"/>
    <p:sldId id="307" r:id="rId59"/>
    <p:sldId id="309" r:id="rId61"/>
    <p:sldId id="313" r:id="rId65"/>
    <p:sldId id="314" r:id="rId66"/>
    <p:sldId id="315" r:id="rId67"/>
    <p:sldId id="372" r:id="rId62"/>
    <p:sldId id="373" r:id="rId60"/>
    <p:sldId id="316" r:id="rId68"/>
    <p:sldId id="364" r:id="rId79"/>
    <p:sldId id="365" r:id="rId83"/>
    <p:sldId id="366" r:id="rId76"/>
    <p:sldId id="367" r:id="rId74"/>
    <p:sldId id="368" r:id="rId72"/>
    <p:sldId id="317" r:id="rId69"/>
    <p:sldId id="319" r:id="rId71"/>
    <p:sldId id="321" r:id="rId73"/>
    <p:sldId id="323" r:id="rId75"/>
    <p:sldId id="325" r:id="rId77"/>
    <p:sldId id="326" r:id="rId78"/>
    <p:sldId id="328" r:id="rId80"/>
    <p:sldId id="329" r:id="rId81"/>
    <p:sldId id="330" r:id="rId82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62" r:id="rId114"/>
    <p:sldId id="363" r:id="rId115"/>
    <p:sldId id="370" r:id="rId64"/>
    <p:sldId id="371" r:id="rId6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3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8" Type="http://schemas.openxmlformats.org/officeDocument/2006/relationships/slide" Target="slides/slide22.xml"/><Relationship Id="rId40" Type="http://schemas.openxmlformats.org/officeDocument/2006/relationships/slide" Target="slides/slide23.xml"/><Relationship Id="rId42" Type="http://schemas.openxmlformats.org/officeDocument/2006/relationships/slide" Target="slides/slide24.xml"/><Relationship Id="rId44" Type="http://schemas.openxmlformats.org/officeDocument/2006/relationships/slide" Target="slides/slide25.xml"/><Relationship Id="rId46" Type="http://schemas.openxmlformats.org/officeDocument/2006/relationships/slide" Target="slides/slide26.xml"/><Relationship Id="rId48" Type="http://schemas.openxmlformats.org/officeDocument/2006/relationships/slide" Target="slides/slide27.xml"/><Relationship Id="rId54" Type="http://schemas.openxmlformats.org/officeDocument/2006/relationships/slide" Target="slides/slide28.xml"/><Relationship Id="rId56" Type="http://schemas.openxmlformats.org/officeDocument/2006/relationships/slide" Target="slides/slide29.xml"/><Relationship Id="rId57" Type="http://schemas.openxmlformats.org/officeDocument/2006/relationships/slide" Target="slides/slide30.xml"/><Relationship Id="rId58" Type="http://schemas.openxmlformats.org/officeDocument/2006/relationships/slide" Target="slides/slide31.xml"/><Relationship Id="rId59" Type="http://schemas.openxmlformats.org/officeDocument/2006/relationships/slide" Target="slides/slide32.xml"/><Relationship Id="rId60" Type="http://schemas.openxmlformats.org/officeDocument/2006/relationships/slide" Target="slides/slide84.xml"/><Relationship Id="rId61" Type="http://schemas.openxmlformats.org/officeDocument/2006/relationships/slide" Target="slides/slide33.xml"/><Relationship Id="rId62" Type="http://schemas.openxmlformats.org/officeDocument/2006/relationships/slide" Target="slides/slide83.xml"/><Relationship Id="rId63" Type="http://schemas.openxmlformats.org/officeDocument/2006/relationships/slide" Target="slides/slide82.xml"/><Relationship Id="rId64" Type="http://schemas.openxmlformats.org/officeDocument/2006/relationships/slide" Target="slides/slide81.xml"/><Relationship Id="rId65" Type="http://schemas.openxmlformats.org/officeDocument/2006/relationships/slide" Target="slides/slide34.xml"/><Relationship Id="rId66" Type="http://schemas.openxmlformats.org/officeDocument/2006/relationships/slide" Target="slides/slide35.xml"/><Relationship Id="rId67" Type="http://schemas.openxmlformats.org/officeDocument/2006/relationships/slide" Target="slides/slide36.xml"/><Relationship Id="rId68" Type="http://schemas.openxmlformats.org/officeDocument/2006/relationships/slide" Target="slides/slide37.xml"/><Relationship Id="rId69" Type="http://schemas.openxmlformats.org/officeDocument/2006/relationships/slide" Target="slides/slide43.xml"/><Relationship Id="rId70" Type="http://schemas.openxmlformats.org/officeDocument/2006/relationships/slide" Target="slides/slide2.xml"/><Relationship Id="rId71" Type="http://schemas.openxmlformats.org/officeDocument/2006/relationships/slide" Target="slides/slide44.xml"/><Relationship Id="rId72" Type="http://schemas.openxmlformats.org/officeDocument/2006/relationships/slide" Target="slides/slide42.xml"/><Relationship Id="rId73" Type="http://schemas.openxmlformats.org/officeDocument/2006/relationships/slide" Target="slides/slide45.xml"/><Relationship Id="rId74" Type="http://schemas.openxmlformats.org/officeDocument/2006/relationships/slide" Target="slides/slide41.xml"/><Relationship Id="rId75" Type="http://schemas.openxmlformats.org/officeDocument/2006/relationships/slide" Target="slides/slide46.xml"/><Relationship Id="rId76" Type="http://schemas.openxmlformats.org/officeDocument/2006/relationships/slide" Target="slides/slide40.xml"/><Relationship Id="rId77" Type="http://schemas.openxmlformats.org/officeDocument/2006/relationships/slide" Target="slides/slide47.xml"/><Relationship Id="rId78" Type="http://schemas.openxmlformats.org/officeDocument/2006/relationships/slide" Target="slides/slide48.xml"/><Relationship Id="rId79" Type="http://schemas.openxmlformats.org/officeDocument/2006/relationships/slide" Target="slides/slide38.xml"/><Relationship Id="rId80" Type="http://schemas.openxmlformats.org/officeDocument/2006/relationships/slide" Target="slides/slide49.xml"/><Relationship Id="rId81" Type="http://schemas.openxmlformats.org/officeDocument/2006/relationships/slide" Target="slides/slide50.xml"/><Relationship Id="rId82" Type="http://schemas.openxmlformats.org/officeDocument/2006/relationships/slide" Target="slides/slide51.xml"/><Relationship Id="rId83" Type="http://schemas.openxmlformats.org/officeDocument/2006/relationships/slide" Target="slides/slide39.xml"/><Relationship Id="rId84" Type="http://schemas.openxmlformats.org/officeDocument/2006/relationships/slide" Target="slides/slide52.xml"/><Relationship Id="rId85" Type="http://schemas.openxmlformats.org/officeDocument/2006/relationships/slide" Target="slides/slide53.xml"/><Relationship Id="rId86" Type="http://schemas.openxmlformats.org/officeDocument/2006/relationships/slide" Target="slides/slide54.xml"/><Relationship Id="rId87" Type="http://schemas.openxmlformats.org/officeDocument/2006/relationships/slide" Target="slides/slide55.xml"/><Relationship Id="rId88" Type="http://schemas.openxmlformats.org/officeDocument/2006/relationships/slide" Target="slides/slide56.xml"/><Relationship Id="rId89" Type="http://schemas.openxmlformats.org/officeDocument/2006/relationships/slide" Target="slides/slide57.xml"/><Relationship Id="rId90" Type="http://schemas.openxmlformats.org/officeDocument/2006/relationships/slide" Target="slides/slide58.xml"/><Relationship Id="rId91" Type="http://schemas.openxmlformats.org/officeDocument/2006/relationships/slide" Target="slides/slide59.xml"/><Relationship Id="rId92" Type="http://schemas.openxmlformats.org/officeDocument/2006/relationships/slide" Target="slides/slide60.xml"/><Relationship Id="rId93" Type="http://schemas.openxmlformats.org/officeDocument/2006/relationships/slide" Target="slides/slide61.xml"/><Relationship Id="rId94" Type="http://schemas.openxmlformats.org/officeDocument/2006/relationships/slide" Target="slides/slide62.xml"/><Relationship Id="rId95" Type="http://schemas.openxmlformats.org/officeDocument/2006/relationships/slide" Target="slides/slide63.xml"/><Relationship Id="rId96" Type="http://schemas.openxmlformats.org/officeDocument/2006/relationships/slide" Target="slides/slide64.xml"/><Relationship Id="rId97" Type="http://schemas.openxmlformats.org/officeDocument/2006/relationships/slide" Target="slides/slide65.xml"/><Relationship Id="rId98" Type="http://schemas.openxmlformats.org/officeDocument/2006/relationships/slide" Target="slides/slide66.xml"/><Relationship Id="rId99" Type="http://schemas.openxmlformats.org/officeDocument/2006/relationships/slide" Target="slides/slide67.xml"/><Relationship Id="rId100" Type="http://schemas.openxmlformats.org/officeDocument/2006/relationships/slide" Target="slides/slide68.xml"/><Relationship Id="rId101" Type="http://schemas.openxmlformats.org/officeDocument/2006/relationships/slide" Target="slides/slide69.xml"/><Relationship Id="rId102" Type="http://schemas.openxmlformats.org/officeDocument/2006/relationships/slide" Target="slides/slide70.xml"/><Relationship Id="rId103" Type="http://schemas.openxmlformats.org/officeDocument/2006/relationships/slide" Target="slides/slide71.xml"/><Relationship Id="rId104" Type="http://schemas.openxmlformats.org/officeDocument/2006/relationships/slide" Target="slides/slide72.xml"/><Relationship Id="rId105" Type="http://schemas.openxmlformats.org/officeDocument/2006/relationships/slide" Target="slides/slide73.xml"/><Relationship Id="rId106" Type="http://schemas.openxmlformats.org/officeDocument/2006/relationships/slide" Target="slides/slide74.xml"/><Relationship Id="rId107" Type="http://schemas.openxmlformats.org/officeDocument/2006/relationships/slide" Target="slides/slide75.xml"/><Relationship Id="rId108" Type="http://schemas.openxmlformats.org/officeDocument/2006/relationships/slide" Target="slides/slide76.xml"/><Relationship Id="rId109" Type="http://schemas.openxmlformats.org/officeDocument/2006/relationships/slide" Target="slides/slide77.xml"/><Relationship Id="rId110" Type="http://schemas.openxmlformats.org/officeDocument/2006/relationships/slide" Target="slides/slide78.xml"/><Relationship Id="rId114" Type="http://schemas.openxmlformats.org/officeDocument/2006/relationships/slide" Target="slides/slide79.xml"/><Relationship Id="rId115" Type="http://schemas.openxmlformats.org/officeDocument/2006/relationships/slide" Target="slides/slide8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开场30秒：本次课《毫秒级发现产线缺陷》，80分钟＝2课时×40分钟。课前已发工单+starter+微课知识卡，资讯·计划线上完成。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情境说书（30秒，口头讲，不必逐字念）：产线节拍升级到3秒/件，人工复判又成瓶颈。老周批了新的算力申请单（备注：机房无GPU）——工单M3.2：用预训练YOLO在CPU上把实时质检跑起来，阈值与速度你来权衡。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详解B1·多模存储各就各位：先读定义→场景为什么用它→看代码实例→扩展给A层。C/D层掌握前三格，A层加扩展格。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详解B2·Litestar全异步框架：先读定义→场景为什么用它→看代码实例→扩展给A层。C/D层掌握前三格，A层加扩展格。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详解B3·ReAct智能体：先读定义→场景为什么用它→看代码实例→扩展给A层。C/D层掌握前三格，A层加扩展格。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详解B4·缓存三问：先读定义→场景为什么用它→看代码实例→扩展给A层。C/D层掌握前三格，A层加扩展格。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详解B5·端到端验证思维：先读定义→场景为什么用它→看代码实例→扩展给A层。C/D层掌握前三格，A层加扩展格。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现场演示《ONNX解析(84,8400)》：三步走——先整段跑通看结果，再逐行讲关键语句，最后现场改一个参数看输出变化（演10分钟的核心素材）。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现场演示《FPS计时(warmup后)》：三步走——先整段跑通看结果，再逐行讲关键语句，最后现场改一个参数看输出变化（演10分钟的核心素材）。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工单发布话术：'设备智能运维中心发来工单M3.2《产线实时缺陷检测系统》，及格线是C，优秀线看A层标准'——念完发starter。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错误速查：现场演示第一条——制造「在线下载权重失败」，带着学生按'现象→原因→解决'三步排查。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课后任务逐条念，说明下次课的衔接关系；预告下次课前微课与导学单。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毫秒级发现产线缺陷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第九周 · 第6次课（2课时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本课主用：Jupyter（实训/演示）+ PyCharm CE（编码）+ Git/GitHub（每周提交）</a:t>
            </a:r>
          </a:p>
        </p:txBody>
      </p:sp>
      <p:pic>
        <p:nvPicPr>
          <p:cNvPr id="7" name="Picture 6" descr="W9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84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84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84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专业核心能力进阶课：无代码体验→轻代码实现→工业级应用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AI应用实践（中级）、工业互联网平台运维、计算机视觉工程师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前：无Python先修（零基础入门） → 本课(第4-11周，与Python基础并行) → 后：项目实战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84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毫秒级发现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产线缺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YOLO：整图一次前向输出全部候选框 · 输出张量(84,8400)：0-3行xywh、4-83行80类分数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置信度过滤+NMS去重叠框 · imgsz输入尺寸：大→准但慢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加载本地权重执行CPU推理 · 解析(84,8400)输出并画框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84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基础知识线：YOLO：整图一次前向输出全部候选框；输出张量(84,8400)：0-3行xywh、4-83行80类分数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继续夯实线：置信度过滤+NMS去重叠框；imgsz输入尺寸：大→准但慢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84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技能线：加载本地权重执行CPU推理；解析(84,8400)输出并画框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84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M3.2《产线实时缺陷检测系统》——本课工单即考核单元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84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84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84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84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目标：掌握YOLO算法的核心思想与输出结构；理解mAP、FPS等检测指标的含义；了解工业质检系统的完整架构。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84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目标：能够使用YOLOv8建立产线实时缺陷检测系统（mAP≥0.70，优秀≥0.80且推理速度较默认配置提升≥50%）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84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目标：建立系统级工程视角，理解算法精度与生产节拍（实时性）之间的工程权衡。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84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置信度阈值调高，漏检与误检各怎么变？你的机器CPU单帧约多少ms？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导学单+预习自测已完成；data/数据已就位、starter可运行（--check环境OK）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84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题目：置信度阈值调高，漏检与误检各怎么变？你的机器CPU单帧约多少ms？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84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产线节拍升级到3秒/件，人工复判又成瓶颈。老周批了新的算力申请单（备注：机房无GPU）——工单M3.2：用预训练YOLO在CPU上把实时质检跑起来，阈值与速度你来权衡。</a:t>
            </a:r>
          </a:p>
        </p:txBody>
      </p:sp>
      <p:pic>
        <p:nvPicPr>
          <p:cNvPr id="9" name="Picture 8" descr="W9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84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任务背景：产线节拍升级到3秒/件，人工复判又成瓶颈。老周批了新的算力申请单（备注：机房无GPU）——工单M3.2：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84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掌握YOLO算法的核心思想与输出结构；理解mAP、FPS等检测指标的含义；了解工业质检系统的完整架构。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能够使用YOLOv8建立产线实时缺陷检测系统（mAP≥0.70，优秀≥0.80且推理速度较默认配置提升≥50%）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建立系统级工程视角，理解算法精度与生产节拍（实时性）之间的工程权衡。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对应工单M3.2评分：功能40%+技术25%+规范20%+素养15%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84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84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知识详解：多模存储各就各位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多模存储各就各位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五类库=五种货架：SQLite台账/DuckDB时序/Redis秒取/Chroma语义/Kùzu关系网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P7平台按数据形态选库——不是一把锤子敲所有钉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Redis缓存实时值；DuckDB列存历史时序查询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误区：全塞一个SQLite——量级上来后时序/向量各有专门引擎更快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84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知识详解：Litestar全异步框架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Litestar全异步框架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Litestar+Granian=异步流水线换Rust发动机——单线程http.server的退役替代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P7平台Web层的部署新范式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granian --interface asgi app:app --port 8000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误区：异步当万能加速——CPU密集照样慢，异步红利于IO等待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84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知识详解：ReAct智能体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ReAct智能体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ReAct=侦探办案四步：想(推理)→动手(查工具)→看线索(观察)→结案(结论)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六步取证输出结构化诊断工单——P7压轴能力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thought→tool_call→observation→…→final_report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误区：让模型一步出结论——强制走ReAct循环，取证链完整才可信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84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知识详解：缓存三问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缓存三问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缓存三问=上锁前三思：什么值得锁？锁多久(TTL)？过期谁负责？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重复计算贵的才缓存——读多写少数据适合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redis.setex(key, 300, value) 5分钟TTL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误区：什么都缓存→脏数据事故；TTL设永久→更新永不生效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84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知识详解：端到端验证思维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端到端验证思维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verify.sh=出厂总检：断言全绿才签字放行——一环红全线返工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P7交付前的端到端自检——不靠人眼靠断言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python verify.sh → [PASS] 6/6 checks green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误区：只测单模块——集成后接口对不上是常态，端到端必须真跑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84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加载本地权重执行CPU推理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解析(84,8400)输出并画框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conf阈值实验与imgsz三档FPS测试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输出精度-速度权衡决策矩阵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84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评估指标公式卡（贴在显示器上）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准确率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0000" y="247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对的 / 全部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0000" y="300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总体把握, 不均衡时会骗人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精确率 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0000" y="247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报的真 / 全部报的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0000" y="3000000"/>
            <a:ext cx="460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误报成本高时看它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000" y="376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召回率 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抓到的真 / 全部真的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漏报(漏检)代价高时看它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10000" y="3760000"/>
            <a:ext cx="460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F1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2PR / (P+R)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精确与召回的调和平均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84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毫秒级发现产线缺陷（1）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YOLO与实时检测技术：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YOLO（YOLOv5/YOLOv8）物体检测算法的核心思想：一次前向传播完成多目标检测；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检测输出解读：边界框、置信度、类别概率、mAP指标；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数据集准备与标注（labelimg）方法（教师演示）；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模型部署与性能优化：推理速度（FPS）与精度的平衡；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8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7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工业质检系统完整架构：图像采集→推理→判定→剔除→统计。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84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毫秒级发现产线缺陷（2）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工单项目M3.2实验（80分钟，CPU机房可完整实施）：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使用教师提供的YOLOv8n预训练模型（离线权重包）进行CPU实时推理；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对电子产品、包装图像进行缺陷检测（≥3类）；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性能优化：调整输入尺寸、置信度阈值，测试并提升推理速度（FPS）；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模型微调由教师GPU端演示，云端训练为课后选做（训练与推理分离）。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84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关键代码：ONNX解析(84,8400)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out = sess.run(None, {"images": x})[0][0]   # (84,8400)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cls = out[4:]                               # (80,8400)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conf, cid = cls.max(0), cls.argmax(0)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keep = np.where(conf &gt; 0.4)[0]              # 阈值过滤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boxes = out[:4, keep].T                      # cx,cy,w,h @640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84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关键代码：FPS计时(warmup后)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_ in range(3): model.predict(img, imgsz=sz, verbose=False)  # warmup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t0 = time.time()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_ in range(10): model.predict(img, imgsz=sz, verbose=False)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print(f"FPS={10/(time.time()-t0):.1f}")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84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84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决策：产线配置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配置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检出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误检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FPS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imgsz=320,conf=0.4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imgsz=160,conf=0.4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imgsz=640,conf=0.4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84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本课决策题：决策：产线配置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84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实施任务：工单M3.2《产线实时缺陷检测系统》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加载离线权重推理≥20张并可视化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conf∈{0.25,0.4,0.6,0.8}阈值实验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imgsz三档FPS测试(warmup后计时)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填写精度-速度权衡矩阵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CPU推理+可视化完成；阈值实验完整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FPS≥20且检出稳定；权衡分析有理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84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本次真跑实测输出（逐字取自 output/report.txt）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实测达成档位: 优(A) ｜ 推理路线: cv2基线(兜底口径)实测 660 次调用 ｜ YOLO-ONNX路线: 可用（yolov8n.onnx CPU 真推理，conf 用对工单原值） ｜ 实测FPS 160:473.1 320:123.2 640:33.8 ｜ 选定 imgsz=320 较640提速 264% ｜ 多线程(4线程池)优化实测 +166% ｜ 阈值 4 档 ｜ 合格可视化图 2 张 ｜ 实物照: MISS（本机无实物照片 → 人工答辩项）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及格(D)    门槛 阈值实验≥4档+可视化落盘 [达标] ｜ 功能OK ｜ CPU推理+可视化（实物照缺失→人工项）；阈值实验记录完整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良好(C)    门槛 三档imgsz实测+选定有依据 [达标] ｜ 功能OK ｜ 三档imgsz的FPS对比完整；选定配置可由实测表复算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优秀(B)    门槛 较640提速≥50%且检出稳定 [达标] ｜ 功能OK ｜ 自选配置提速≥50%（两次真实计时相除）且复跑检出恒定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优(A)     门槛 优化实测提速≥5% [达标] ｜ 功能OK ｜ 达B且：输入裁剪/多线程等优化落地并量化提升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注: 本工单未逐档设代码规范率门槛 → 规范率仅作实测展示；实物照/讨论/条理性等判不到的条目一律进下方人工答辩项。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人工答辩项 4 条，教师答辩时确认: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84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工程化项目/m32_yolo_dual/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src/yolo_dual/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84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实测验收 · m32_yolo_dual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84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1371600"/>
            <a:ext cx="12188952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426464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D46"/>
                </a:solidFill>
                <a:latin typeface="微软雅黑"/>
              </a:rPr>
              <a:t>实测达成档位</a:t>
            </a:r>
          </a:p>
          <a:p>
            <a:r>
              <a:rPr sz="1400" b="1">
                <a:solidFill>
                  <a:srgbClr val="2E7D46"/>
                </a:solidFill>
                <a:latin typeface="微软雅黑"/>
              </a:rPr>
              <a:t>优(A)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推理路线: cv2基线(兜底口径)实测 660 次调用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01184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46904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YOLO-ONNX路线: 可用（yolov8n.onnx CPU 真推理，co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7688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实测FPS 160:473.1 320:123.2 640:33.8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02752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2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选定 imgsz=320 较640提速 264%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03536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49256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多线程(4线程池)优化实测 +166%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57200" y="2212848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120640"/>
                <a:gridCol w="3886200"/>
                <a:gridCol w="1078992"/>
              </a:tblGrid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档位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工单验收标准（原文）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本次实测判定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及格(D)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CPU推理+可视化（实物照缺失→人工项）；阈值实验记录完整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门槛 阈值实验≥4档+可视化落盘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良好(C)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三档imgsz的FPS对比完整；选定配置可由实测表复算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门槛 三档imgsz实测+选定有依据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优秀(B)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自选配置提速≥50%（两次真实计时相除）且复跑检出恒定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门槛 较640提速≥50%且检出稳定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优(A)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达B且：输入裁剪/多线程等优化落地并量化提升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门槛 优化实测提速≥5%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457200" y="5138928"/>
            <a:ext cx="11274552" cy="1261872"/>
          </a:xfrm>
          <a:prstGeom prst="rect">
            <a:avLst/>
          </a:prstGeom>
          <a:solidFill>
            <a:srgbClr val="FFF7E8"/>
          </a:solidFill>
          <a:ln>
            <a:solidFill>
              <a:srgbClr val="E8C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5212080"/>
            <a:ext cx="109270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6B4E16"/>
                </a:solidFill>
                <a:latin typeface="微软雅黑"/>
              </a:rPr>
              <a:t>人工答辩项 4 条（代码不代判，答辩现场确认）：[01] 实物照检测：学生手机拍键盘/鼠标/水杯跑通推理（本机无实物照片，实测记 MISS，教师答辩时检查提交物；[02] 预训练权重对合成工业缺陷'零检出'现象的讨论（领域不匹配→微调动机）；[03] '精度-速度'权衡分析的条理性（决策矩阵填写+口述依据）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档位是算出来的：判定值由 run.py 本次真跑产生；工单未给数字的门槛在报告里标注为「兜底口径·非工单数字」。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实测值共 8 项，本页只列前 5 项，其余见下页 report.txt 截图。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实跑截图证据 · m32_yolo_dual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84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① run.py 实跑终端输出（逐字捕获·退出码 -6，输出与报告已完整产出）</a:t>
            </a:r>
          </a:p>
        </p:txBody>
      </p:sp>
      <p:pic>
        <p:nvPicPr>
          <p:cNvPr id="18" name="Picture 17" descr="shot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38" y="1773936"/>
            <a:ext cx="4472722" cy="1956816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327648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② pytest 全绿终端输出（逐字捕获）</a:t>
            </a:r>
          </a:p>
        </p:txBody>
      </p:sp>
      <p:pic>
        <p:nvPicPr>
          <p:cNvPr id="21" name="Picture 20" descr="shot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486" y="1773936"/>
            <a:ext cx="4472722" cy="195681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7200" y="3877056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③ report.txt「验收档位判定（实测）」段</a:t>
            </a:r>
          </a:p>
        </p:txBody>
      </p:sp>
      <p:pic>
        <p:nvPicPr>
          <p:cNvPr id="24" name="Picture 23" descr="shot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38" y="4169664"/>
            <a:ext cx="4472722" cy="195681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327648" y="3877056"/>
            <a:ext cx="5486400" cy="2304288"/>
          </a:xfrm>
          <a:prstGeom prst="rect">
            <a:avLst/>
          </a:prstGeom>
          <a:solidFill>
            <a:srgbClr val="F7F9FB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④ 采集口径（可复现）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4187952"/>
            <a:ext cx="52669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项目：01-AI应用基础/工程化项目/m32_yolo_dual/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命令：/opt/anaconda3/bin/python run.py ｜ /opt/anaconda3/bin/python -m pytest -q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采集：工具/ppt97/capture97.py（2026-10-28 10:46 真跑逐字捕获输出）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渲染：工具/ppt97/terminal_png.py（终端截图，不改写任何数字）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退出码：run=-6 ｜ pytest=0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档位判定取自 output/report.txt「验收档位判定（实测）」段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截图内容逐字取自 工具/ppt97/evidence/m32_yolo_dual/（capture97.py 真跑捕获，未改写数字）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产出图证据 · m32_yolo_dual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84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481328"/>
            <a:ext cx="548640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产出图 · vis_000.png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1755648"/>
            <a:ext cx="5340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7A8698"/>
                </a:solidFill>
                <a:latin typeface="微软雅黑"/>
              </a:rPr>
              <a:t>output/visualized/vis_000.png ｜ 97 KB ｜ run.py 本次落盘</a:t>
            </a:r>
          </a:p>
        </p:txBody>
      </p:sp>
      <p:pic>
        <p:nvPicPr>
          <p:cNvPr id="19" name="Picture 18" descr="vis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" y="1993392"/>
            <a:ext cx="4078224" cy="4078224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327648" y="1481328"/>
            <a:ext cx="548640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产出图 · vis_001.png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755648"/>
            <a:ext cx="5340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7A8698"/>
                </a:solidFill>
                <a:latin typeface="微软雅黑"/>
              </a:rPr>
              <a:t>output/visualized/vis_001.png ｜ 95 KB ｜ run.py 本次落盘</a:t>
            </a:r>
          </a:p>
        </p:txBody>
      </p:sp>
      <p:pic>
        <p:nvPicPr>
          <p:cNvPr id="23" name="Picture 22" descr="vis_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36" y="1993392"/>
            <a:ext cx="4078224" cy="407822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以上图像由 run.py 本次运行落盘到 output/，非外部素材。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零检出观察讨论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实物照推理看检出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缺陷图推理看零检出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讨论原因写两句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能说为何需微调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门槛 阈值实验≥4档+可视化落盘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84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推理与可视化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加载yolov8n权重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推理5张出结果图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记录检出数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能出标注图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门槛 三档imgsz实测+选定有依据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84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完整推理+双实验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推理20张并可视化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conf四档阈值实验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imgsz三档FPS测试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检出稳定+实验记录全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门槛 较640提速≥50%且检出稳定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84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推理优化量化提速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batch推理/输入裁剪实验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量化前后FPS对比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写权衡结论入工单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较默认提速≥50%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(A层加码: 尝试batch推理或输入裁剪优化，量化提速百分比并写结论)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门槛 优化实测提速≥5%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84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加载离线权重推理≥20张并可视化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conf∈{0.25,0.4,0.6,0.8}阈值实验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imgsz三档FPS测试(warmup后计时)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填写精度-速度权衡矩阵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权重从data/weights离线加载，禁止课堂在线下载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FPS计时只包推理段：warmup 3帧后再计时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ONNX输出是(84,8400)：0-3行xywh，4-83行类别分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84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在线下载权重失败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机房无外网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用data/weights离线加载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框画错位置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640坐标没还原原图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按缩放比换算回原尺寸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FPS忽小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把IO也计进去了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只计predict段并warmup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84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D·学徒（≥60）：零检出观察讨论——跟做保底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C·操作员（≥70）：推理与可视化——基础完成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B·组长（≥80）：完整推理+双实验——标准达成+帮带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A·师傅（≥90）：推理优化量化提速——进阶拓展+费曼讲解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84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步骤1：加载离线权重推理≥20张并可视化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步骤2：conf∈{0.25,0.4,0.6,0.8}阈值实验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步骤3：imgsz三档FPS测试(warmup后计时)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步骤4：填写精度-速度权衡矩阵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84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conda环境正确（提示符显示(ai01）再运行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84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84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84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提交物与评分（工单M3.2）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学号_姓名_M3.2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84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完成工单项目M3.2《产线实时缺陷检测系统》：mAP≥0.70，优秀标准mAP≥0.80且推理速度较默认配置（imgsz=640）提升≥50%、检测结果可视化完善；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撰写精度—速度权衡分析记录；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预习中文分词与文本分类概念。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84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模型可解释与数据伦理：不迷信黑盒, 尊重隐私与合规红线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工程化思维：从模型精度到系统可用, 版本可管理、结果可复现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持续学习：追踪大模型前沿, 用工单沉淀个人知识资产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84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=== 工单 M3.2 YOLO缺陷检测 · 完成态（双路线） ===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数据集: 合成工业图 12 张 · 真值框 27 个（三类缺陷）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COCO预训练YOLOv8n: 检出 0 个（预训练权重领域不匹配）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② 传统视觉(阈值+连通域): 检出 15 / 匹配 5（召回 19%）≈673FPS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分类召回: dent 4/7 stain 0/10 edge_crack 1/10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结论①: 预训练模型必须领域微调（迁移学习）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结论②: 传统视觉仅对高对比缺陷有效，低对比/细线失效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发现③: edge_crack 真值框约27px vs 实际细线约4px —— 标注口径须与目标尺度一致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路径④: 传统视觉上线拿数据 → 修标注 → 微调YOLO 提mAP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要点: 两条路线都不够好，正是本课要学'学习型检测器'的原因。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[明细] 逐图对照: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  img_000.npy: 真值3 传统视觉检出2 匹配1  ×4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84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84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ONNX推理结果不一致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对齐预处理（同一scaler/归一化参数）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84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M3.2任务书——步骤/及格线/评分细则都在里面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84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84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84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分类模型+阈值规则，先自动化易判样本，人只复核疑难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M3.2的技能点即其最小实现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84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84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84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84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84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微课知识卡：加载本地权重执行CPU推理（5分钟视频+导学单）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84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YOLO：整图一次前向输出全部候选框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输出张量(84,8400)：0-3行xywh、4-83行80类分数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置信度过滤+NMS去重叠框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84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84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毫秒级发现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产线缺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YOLO：整图一次前向输出全部候选框 · 输出张量(84,8400)：0-3行xywh、4-83行80类分数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加载本地权重执行CPU推理 · 解析(84,8400)输出并画框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在线下载权重失败 · 框画错位置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工单M3.2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84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84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本周主题：加载本地权重执行CPU推理——5分钟视频+导学单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84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84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84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84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置信度阈值调高，漏检与误检各怎么变？你的机器CPU单帧约多少ms？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排错题：出现「在线下载权重失败」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原因：机房无外网；解决：用data/weights离线加载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YOLO：整图一次前向输出全部候选框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84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知识：YOLO：整图一次前向输出全部候选框；输出张量(84,8400)：0-3行xy；置信度过滤+NMS去重叠框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技能：加载本地权重执行CPU推理；解析(84,8400)输出并画框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交付：工单M3.2《产线实时缺陷检测系统》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84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84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下次课预告（第10周）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jieba分词+停用词过滤管线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TF-IDF中的IDF让什么样的词权重更高？停用词不滤会怎样？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本讲对应工单：《AI应用基础》分层任务工单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本课重难点地图 · 老师划重点（动手前必看）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84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动手前先看这页：重点要会什么、难点会卡在哪、哪里最容易错、学没学会怎么自测。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1783080"/>
            <a:ext cx="5532120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1783080"/>
            <a:ext cx="553212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1819656"/>
            <a:ext cx="5312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重点 · 必会必考（本课知识点全景）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2267712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多模存储各就各位｜五类库=五种货架：SQLite台账/DuckDB时序/Redis秒…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Litestar全异步框架｜Litestar+Granian=异步流水线换Rust发动机——单…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ReAct智能体｜ReAct=侦探办案四步：想(推理)→动手(查工具)→看线索(观察…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缓存三问｜缓存三问=上锁前三思：什么值得锁？锁多久(TTL)？过期谁负责？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端到端验证思维｜verify.sh=出厂总检：断言全绿才签字放行——一环红全线返工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44768" y="1783080"/>
            <a:ext cx="5586984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44768" y="1783080"/>
            <a:ext cx="5586984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54496" y="181965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难点 · 易卡壳（下一页逐个击破）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2231136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误区：全塞一个SQLite——量级上来后时序/向量各有专门引擎更快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误区：异步当万能加速——CPU密集照样慢，异步红利于IO等待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误区：让模型一步出结论——强制走ReAct循环，取证链完整才可信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44768" y="3401568"/>
            <a:ext cx="558698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44768" y="3401568"/>
            <a:ext cx="5586984" cy="365760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54496" y="3438144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高频易错 · 动手前先记住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3849624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✗ 在线下载权重失败 → 用data/weights离线加载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框画错位置 → 按缩放比换算回原尺寸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FPS忽小 → 只计predict段并warmup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047488"/>
            <a:ext cx="1127455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5047488"/>
            <a:ext cx="1127455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5084064"/>
            <a:ext cx="11055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达标自问 · 学没学会，问自己这四句（当堂评分同口径）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" y="5458968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及格线我能过吗——CPU推理+可视化完成；阈值实验完整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优秀线我够吗——FPS≥20且检出稳定；权衡分析有理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③ 技能点我能独立做出来吗——加载本地权重执行CPU推理；解析(84,8400)输出并画框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④ 报错了先查「常见错误速查」页再举手——错误信息逐字读一遍，八成自己能修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难点逐个击破 · 零基础照做就能会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84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每个难点四步走：先看「为什么容易栽」对号入座 → 记住「一招破解」→ 照「动手验证」做一遍 → 做不出回知识详解页。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17830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17830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难点1：B01 多模存储各就各位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误区：全塞一个SQLite——量级上来后时序/向量各有专门引擎更快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34255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34255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五类库=五种货架：SQLite台账/DuckDB时序/Redis秒取/Chroma语义/Kùzu关系网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0143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10143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P7平台按数据形态选库——不是一把锤子敲所有钉 Redis缓存实时值；DuckDB列存历史时序查询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3832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33832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3429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难点2：B02 Litestar全异步框架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误区：异步当万能加速——CPU密集照样慢，异步红利于IO等待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34255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34255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Litestar+Granian=异步流水线换Rust发动机——单线程http.server的退役替代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10143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10143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P7平台Web层的部署新范式 granian --interface asgi app:app --port 8000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9834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" y="49834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难点3：B03 ReAct智能体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误区：让模型一步出结论——强制走ReAct循环，取证链完整才可信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34255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34255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ReAct=侦探办案四步：想(推理)→动手(查工具)→看线索(观察)→结案(结论)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10143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10143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六步取证输出结构化诊断工单——P7压轴能力 thought→tool_call→observation→…→final_report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